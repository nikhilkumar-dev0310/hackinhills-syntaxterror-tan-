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IBM Plex Sans"/>
      <p:bold r:id="rId14"/>
      <p:boldItalic r:id="rId15"/>
    </p:embeddedFont>
    <p:embeddedFont>
      <p:font typeface="Caveat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IBMPlexSans-bold.fntdata"/><Relationship Id="rId15" Type="http://schemas.openxmlformats.org/officeDocument/2006/relationships/font" Target="fonts/IBMPlexSans-boldItalic.fntdata"/><Relationship Id="rId16" Type="http://schemas.openxmlformats.org/officeDocument/2006/relationships/font" Target="fonts/Caveat-regular.fntdata"/><Relationship Id="rId17" Type="http://schemas.openxmlformats.org/officeDocument/2006/relationships/font" Target="fonts/Caveat-bold.fntdata"/><Relationship Id="rId18" Type="http://schemas.openxmlformats.org/officeDocument/2006/relationships/font" Target="fonts/Montserrat-bold.fntdata"/><Relationship Id="rId19" Type="http://schemas.openxmlformats.org/officeDocument/2006/relationships/font" Target="fonts/Montserra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 are SYNTAX TERROR (TAN). Our project, Parity, answers Problem 03 with a working prototype built on 710 official MCX gold contracts.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Four MCX contracts hold the same metal but quote it four ways. Converted to rupees per gram of pure gold they nearly match. The gaps that remain are real money: the coin's steady premium, and a 2.7% gap during the 2026 crash.</a:t>
            </a:r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Parity is live at parity-gold-site.vercel.app. It compares the four contracts fairly, raises an alert only when a contract strays far from its fair price, backtests every rule after real costs, and checks every trade against the contract calendar. What sets it apart: 23 years of MCX data, eight years sealed and tested once, a fair price built off GOLDM, and the exchange's own delivery rules. Tested once on eight unseen years, the fair-price rule made money in all three sealed tests, but the edge is small, and we say so.</a:t>
            </a:r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Official MCX files go in. They are cleaned and checked, every analysis writes its results to a file, and one export feeds the dashboard, report and pitch.</a:t>
            </a:r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Gold futures on MCX trade about 28 thousand crore rupees a day, 3.4 times more than a year earlier. Market figures are from MCX data reported by Business Today and Business Standard; the revenue model is our plan.</a:t>
            </a:r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First, prove the rule live on paper. Then better data, alerts where traders already are, and the same method for silver.</a:t>
            </a:r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 tested on eight years the rules had never seen. The simple pairs rule failed. The fair-price rule made money in all three sealed tests, but the edge is small and depends on trading costs, and we say so.</a:t>
            </a:r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hyperlink" Target="https://parity-gold-site.vercel.app" TargetMode="External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hyperlink" Target="https://parity-gold-site.vercel.app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32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Relationship Id="rId8" Type="http://schemas.openxmlformats.org/officeDocument/2006/relationships/image" Target="../media/image33.png"/><Relationship Id="rId9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38.png"/><Relationship Id="rId7" Type="http://schemas.openxmlformats.org/officeDocument/2006/relationships/hyperlink" Target="https://parity-gold-site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itle"/>
          <p:cNvSpPr txBox="1"/>
          <p:nvPr/>
        </p:nvSpPr>
        <p:spPr>
          <a:xfrm>
            <a:off x="914400" y="4617720"/>
            <a:ext cx="7315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Montserrat"/>
              </a:rPr>
              <a:t>TEAM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" y="544068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35A07"/>
                </a:solidFill>
                <a:latin typeface="Montserrat"/>
              </a:rPr>
              <a:t>TEAM NAME</a:t>
            </a:r>
          </a:p>
        </p:txBody>
      </p:sp>
      <p:sp>
        <p:nvSpPr>
          <p:cNvPr id="92" name="Team name"/>
          <p:cNvSpPr txBox="1"/>
          <p:nvPr/>
        </p:nvSpPr>
        <p:spPr>
          <a:xfrm>
            <a:off x="914400" y="5806440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D1D1F"/>
                </a:solidFill>
                <a:latin typeface="Montserrat"/>
              </a:rPr>
              <a:t>SYNTAX TERROR (TAN)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" y="66294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A4A50"/>
                </a:solidFill>
                <a:latin typeface="Calibri"/>
              </a:rPr>
              <a:t>Project: </a:t>
            </a:r>
            <a:r>
              <a:rPr sz="2200" b="0">
                <a:solidFill>
                  <a:srgbClr val="4A4A50"/>
                </a:solidFill>
                <a:latin typeface="Calibri"/>
              </a:rPr>
              <a:t>Parity, MCX gold futures intelligence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4A4A50"/>
                </a:solidFill>
                <a:latin typeface="Calibri"/>
              </a:rPr>
              <a:t>Problem 03: </a:t>
            </a:r>
            <a:r>
              <a:rPr sz="2200" b="0">
                <a:solidFill>
                  <a:srgbClr val="4A4A50"/>
                </a:solidFill>
                <a:latin typeface="Calibri"/>
              </a:rPr>
              <a:t>Commodity Derivatives Intelligence</a:t>
            </a:r>
          </a:p>
        </p:txBody>
      </p:sp>
      <p:sp>
        <p:nvSpPr>
          <p:cNvPr id="94" name="Working prototype"/>
          <p:cNvSpPr/>
          <p:nvPr/>
        </p:nvSpPr>
        <p:spPr>
          <a:xfrm>
            <a:off x="914400" y="8001000"/>
            <a:ext cx="3063240" cy="640080"/>
          </a:xfrm>
          <a:prstGeom prst="roundRect">
            <a:avLst>
              <a:gd name="adj" fmla="val 50000"/>
            </a:avLst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8119872"/>
            <a:ext cx="402336" cy="402336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572768" y="800100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D1D1F"/>
                </a:solidFill>
                <a:latin typeface="Calibri"/>
              </a:rPr>
              <a:t>Working prototype</a:t>
            </a:r>
          </a:p>
        </p:txBody>
      </p:sp>
      <p:sp>
        <p:nvSpPr>
          <p:cNvPr id="97" name="710 contracts"/>
          <p:cNvSpPr/>
          <p:nvPr/>
        </p:nvSpPr>
        <p:spPr>
          <a:xfrm>
            <a:off x="4160520" y="8001000"/>
            <a:ext cx="2423160" cy="640080"/>
          </a:xfrm>
          <a:prstGeom prst="roundRect">
            <a:avLst>
              <a:gd name="adj" fmla="val 50000"/>
            </a:avLst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5112" y="8119872"/>
            <a:ext cx="402336" cy="402336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818888" y="8001000"/>
            <a:ext cx="16916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D1D1F"/>
                </a:solidFill>
                <a:latin typeface="Calibri"/>
              </a:rPr>
              <a:t>710 contracts</a:t>
            </a:r>
          </a:p>
        </p:txBody>
      </p:sp>
      <p:sp>
        <p:nvSpPr>
          <p:cNvPr id="100" name="3 sealed tests"/>
          <p:cNvSpPr/>
          <p:nvPr/>
        </p:nvSpPr>
        <p:spPr>
          <a:xfrm>
            <a:off x="6766560" y="8001000"/>
            <a:ext cx="2560320" cy="640080"/>
          </a:xfrm>
          <a:prstGeom prst="roundRect">
            <a:avLst>
              <a:gd name="adj" fmla="val 50000"/>
            </a:avLst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8119872"/>
            <a:ext cx="402336" cy="402336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7424928" y="8001000"/>
            <a:ext cx="182879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D1D1F"/>
                </a:solidFill>
                <a:latin typeface="Calibri"/>
              </a:rPr>
              <a:t>3 sealed tests</a:t>
            </a:r>
          </a:p>
        </p:txBody>
      </p:sp>
      <p:sp>
        <p:nvSpPr>
          <p:cNvPr id="103" name="Members card"/>
          <p:cNvSpPr/>
          <p:nvPr/>
        </p:nvSpPr>
        <p:spPr>
          <a:xfrm>
            <a:off x="9509760" y="4617720"/>
            <a:ext cx="786384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21240" y="4892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35A07"/>
                </a:solidFill>
                <a:latin typeface="Montserrat"/>
              </a:rPr>
              <a:t>MEMBERS AND ROLES</a:t>
            </a:r>
          </a:p>
        </p:txBody>
      </p:sp>
      <p:sp>
        <p:nvSpPr>
          <p:cNvPr id="105" name="Oval 104"/>
          <p:cNvSpPr/>
          <p:nvPr/>
        </p:nvSpPr>
        <p:spPr>
          <a:xfrm>
            <a:off x="9921240" y="5486400"/>
            <a:ext cx="731520" cy="73152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105" descr="targe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2174" y="5647334"/>
            <a:ext cx="409651" cy="409651"/>
          </a:xfrm>
          <a:prstGeom prst="rect">
            <a:avLst/>
          </a:prstGeom>
        </p:spPr>
      </p:pic>
      <p:sp>
        <p:nvSpPr>
          <p:cNvPr id="107" name="Member 1"/>
          <p:cNvSpPr txBox="1"/>
          <p:nvPr/>
        </p:nvSpPr>
        <p:spPr>
          <a:xfrm>
            <a:off x="10881360" y="544068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D1D1F"/>
                </a:solidFill>
                <a:latin typeface="Calibri"/>
              </a:rPr>
              <a:t>Nikhil Kumar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881360" y="5916168"/>
            <a:ext cx="6309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Team lead · data pipeline, strategy research and backtests, dashboard</a:t>
            </a:r>
          </a:p>
        </p:txBody>
      </p:sp>
      <p:sp>
        <p:nvSpPr>
          <p:cNvPr id="109" name="Oval 108"/>
          <p:cNvSpPr/>
          <p:nvPr/>
        </p:nvSpPr>
        <p:spPr>
          <a:xfrm>
            <a:off x="9921240" y="6858000"/>
            <a:ext cx="731520" cy="731520"/>
          </a:xfrm>
          <a:prstGeom prst="ellipse">
            <a:avLst/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us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2174" y="7018934"/>
            <a:ext cx="409651" cy="409651"/>
          </a:xfrm>
          <a:prstGeom prst="rect">
            <a:avLst/>
          </a:prstGeom>
        </p:spPr>
      </p:pic>
      <p:sp>
        <p:nvSpPr>
          <p:cNvPr id="111" name="Member 2"/>
          <p:cNvSpPr txBox="1"/>
          <p:nvPr/>
        </p:nvSpPr>
        <p:spPr>
          <a:xfrm>
            <a:off x="10881360" y="681228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D1D1F"/>
                </a:solidFill>
                <a:latin typeface="Calibri"/>
              </a:rPr>
              <a:t>Sai Ganesh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881360" y="7287768"/>
            <a:ext cx="6309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Market research and pitch presentation</a:t>
            </a:r>
          </a:p>
        </p:txBody>
      </p:sp>
      <p:sp>
        <p:nvSpPr>
          <p:cNvPr id="113" name="Oval 112"/>
          <p:cNvSpPr/>
          <p:nvPr/>
        </p:nvSpPr>
        <p:spPr>
          <a:xfrm>
            <a:off x="9921240" y="8229600"/>
            <a:ext cx="731520" cy="731520"/>
          </a:xfrm>
          <a:prstGeom prst="ellipse">
            <a:avLst/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Picture 113" descr="us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2174" y="8390534"/>
            <a:ext cx="409651" cy="409651"/>
          </a:xfrm>
          <a:prstGeom prst="rect">
            <a:avLst/>
          </a:prstGeom>
        </p:spPr>
      </p:pic>
      <p:sp>
        <p:nvSpPr>
          <p:cNvPr id="115" name="Member 3"/>
          <p:cNvSpPr txBox="1"/>
          <p:nvPr/>
        </p:nvSpPr>
        <p:spPr>
          <a:xfrm>
            <a:off x="10881360" y="8183879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D1D1F"/>
                </a:solidFill>
                <a:latin typeface="Calibri"/>
              </a:rPr>
              <a:t>Ishaan Chhabra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881360" y="8659367"/>
            <a:ext cx="6309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Testing, data checks and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Kicker"/>
          <p:cNvSpPr txBox="1"/>
          <p:nvPr/>
        </p:nvSpPr>
        <p:spPr>
          <a:xfrm>
            <a:off x="914400" y="1463040"/>
            <a:ext cx="1645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35A07"/>
                </a:solidFill>
                <a:latin typeface="Montserrat"/>
              </a:rPr>
              <a:t>PROBLEM STATEMENT &amp; THEME</a:t>
            </a:r>
          </a:p>
        </p:txBody>
      </p:sp>
      <p:sp>
        <p:nvSpPr>
          <p:cNvPr id="100" name="Title"/>
          <p:cNvSpPr txBox="1"/>
          <p:nvPr/>
        </p:nvSpPr>
        <p:spPr>
          <a:xfrm>
            <a:off x="914400" y="1828800"/>
            <a:ext cx="1645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D1D1F"/>
                </a:solidFill>
                <a:latin typeface="Montserrat"/>
              </a:rPr>
              <a:t>One metal, four prices. Which one is fair?</a:t>
            </a:r>
          </a:p>
        </p:txBody>
      </p:sp>
      <p:sp>
        <p:nvSpPr>
          <p:cNvPr id="101" name="Contract GOLDM"/>
          <p:cNvSpPr/>
          <p:nvPr/>
        </p:nvSpPr>
        <p:spPr>
          <a:xfrm>
            <a:off x="914400" y="2880360"/>
            <a:ext cx="39319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88720" y="30632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1D1F"/>
                </a:solidFill>
                <a:latin typeface="Montserrat"/>
              </a:rPr>
              <a:t>GOLDM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" y="354787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4A50"/>
                </a:solidFill>
                <a:latin typeface="Calibri"/>
              </a:rPr>
              <a:t>100 g bar · 99.5% pure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88720" y="402336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1D1F"/>
                </a:solidFill>
                <a:latin typeface="Calibri"/>
              </a:rPr>
              <a:t>₹1,49,055</a:t>
            </a:r>
            <a:r>
              <a:rPr sz="1900" b="0">
                <a:solidFill>
                  <a:srgbClr val="4A4A50"/>
                </a:solidFill>
                <a:latin typeface="Calibri"/>
              </a:rPr>
              <a:t>  per 10 g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188720" y="4681728"/>
            <a:ext cx="3383280" cy="777240"/>
          </a:xfrm>
          <a:prstGeom prst="roundRect">
            <a:avLst>
              <a:gd name="adj" fmla="val 20000"/>
            </a:avLst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25880" y="4681728"/>
            <a:ext cx="3200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835A07"/>
                </a:solidFill>
                <a:latin typeface="Calibri"/>
              </a:rPr>
              <a:t>₹14,980</a:t>
            </a:r>
            <a:r>
              <a:rPr sz="1900" b="0">
                <a:solidFill>
                  <a:srgbClr val="4A4A50"/>
                </a:solidFill>
                <a:latin typeface="Calibri"/>
              </a:rPr>
              <a:t> per pure g</a:t>
            </a:r>
          </a:p>
        </p:txBody>
      </p:sp>
      <p:sp>
        <p:nvSpPr>
          <p:cNvPr id="107" name="Contract GOLDTEN"/>
          <p:cNvSpPr/>
          <p:nvPr/>
        </p:nvSpPr>
        <p:spPr>
          <a:xfrm>
            <a:off x="5074920" y="2880360"/>
            <a:ext cx="39319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49240" y="30632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1D1F"/>
                </a:solidFill>
                <a:latin typeface="Montserrat"/>
              </a:rPr>
              <a:t>GOLDTEN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49240" y="354787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4A50"/>
                </a:solidFill>
                <a:latin typeface="Calibri"/>
              </a:rPr>
              <a:t>10 g bar · 99.9% pure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49240" y="402336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1D1F"/>
                </a:solidFill>
                <a:latin typeface="Calibri"/>
              </a:rPr>
              <a:t>₹1,49,436</a:t>
            </a:r>
            <a:r>
              <a:rPr sz="1900" b="0">
                <a:solidFill>
                  <a:srgbClr val="4A4A50"/>
                </a:solidFill>
                <a:latin typeface="Calibri"/>
              </a:rPr>
              <a:t>  per 10 g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349240" y="4681728"/>
            <a:ext cx="3383280" cy="777240"/>
          </a:xfrm>
          <a:prstGeom prst="roundRect">
            <a:avLst>
              <a:gd name="adj" fmla="val 20000"/>
            </a:avLst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86400" y="4681728"/>
            <a:ext cx="3200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835A07"/>
                </a:solidFill>
                <a:latin typeface="Calibri"/>
              </a:rPr>
              <a:t>₹14,959</a:t>
            </a:r>
            <a:r>
              <a:rPr sz="1900" b="0">
                <a:solidFill>
                  <a:srgbClr val="4A4A50"/>
                </a:solidFill>
                <a:latin typeface="Calibri"/>
              </a:rPr>
              <a:t> per pure g</a:t>
            </a:r>
          </a:p>
        </p:txBody>
      </p:sp>
      <p:sp>
        <p:nvSpPr>
          <p:cNvPr id="113" name="Contract GOLDGUINEA"/>
          <p:cNvSpPr/>
          <p:nvPr/>
        </p:nvSpPr>
        <p:spPr>
          <a:xfrm>
            <a:off x="9235440" y="2880360"/>
            <a:ext cx="39319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509760" y="30632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1D1F"/>
                </a:solidFill>
                <a:latin typeface="Montserrat"/>
              </a:rPr>
              <a:t>GOLDGUINEA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509760" y="354787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4A50"/>
                </a:solidFill>
                <a:latin typeface="Calibri"/>
              </a:rPr>
              <a:t>8 g coin · 99.9% pure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509760" y="402336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1D1F"/>
                </a:solidFill>
                <a:latin typeface="Calibri"/>
              </a:rPr>
              <a:t>₹1,19,993</a:t>
            </a:r>
            <a:r>
              <a:rPr sz="1900" b="0">
                <a:solidFill>
                  <a:srgbClr val="4A4A50"/>
                </a:solidFill>
                <a:latin typeface="Calibri"/>
              </a:rPr>
              <a:t>  per 8 g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509760" y="4681728"/>
            <a:ext cx="3383280" cy="777240"/>
          </a:xfrm>
          <a:prstGeom prst="roundRect">
            <a:avLst>
              <a:gd name="adj" fmla="val 20000"/>
            </a:avLst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46919" y="4681728"/>
            <a:ext cx="3200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835A07"/>
                </a:solidFill>
                <a:latin typeface="Calibri"/>
              </a:rPr>
              <a:t>₹15,014</a:t>
            </a:r>
            <a:r>
              <a:rPr sz="1900" b="0">
                <a:solidFill>
                  <a:srgbClr val="4A4A50"/>
                </a:solidFill>
                <a:latin typeface="Calibri"/>
              </a:rPr>
              <a:t> per pure g</a:t>
            </a:r>
          </a:p>
        </p:txBody>
      </p:sp>
      <p:sp>
        <p:nvSpPr>
          <p:cNvPr id="119" name="Contract GOLDPETAL"/>
          <p:cNvSpPr/>
          <p:nvPr/>
        </p:nvSpPr>
        <p:spPr>
          <a:xfrm>
            <a:off x="13395959" y="2880360"/>
            <a:ext cx="39319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670280" y="30632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1D1F"/>
                </a:solidFill>
                <a:latin typeface="Montserrat"/>
              </a:rPr>
              <a:t>GOLDPETAL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3670280" y="354787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4A4A50"/>
                </a:solidFill>
                <a:latin typeface="Calibri"/>
              </a:rPr>
              <a:t>1 g · 99.9% pure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3670280" y="402336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1D1F"/>
                </a:solidFill>
                <a:latin typeface="Calibri"/>
              </a:rPr>
              <a:t>₹15,002</a:t>
            </a:r>
            <a:r>
              <a:rPr sz="1900" b="0">
                <a:solidFill>
                  <a:srgbClr val="4A4A50"/>
                </a:solidFill>
                <a:latin typeface="Calibri"/>
              </a:rPr>
              <a:t>  per 1 g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3670280" y="4681728"/>
            <a:ext cx="3383280" cy="777240"/>
          </a:xfrm>
          <a:prstGeom prst="roundRect">
            <a:avLst>
              <a:gd name="adj" fmla="val 20000"/>
            </a:avLst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3807439" y="4681728"/>
            <a:ext cx="3200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835A07"/>
                </a:solidFill>
                <a:latin typeface="Calibri"/>
              </a:rPr>
              <a:t>₹15,017</a:t>
            </a:r>
            <a:r>
              <a:rPr sz="1900" b="0">
                <a:solidFill>
                  <a:srgbClr val="4A4A50"/>
                </a:solidFill>
                <a:latin typeface="Calibri"/>
              </a:rPr>
              <a:t> per pure 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" y="5806440"/>
            <a:ext cx="1645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4A4A50"/>
                </a:solidFill>
                <a:latin typeface="Calibri"/>
              </a:rPr>
              <a:t>Most traded contract of each type, MCX closing prices, 1 October 2026. Different quotes, nearly the same gold price.</a:t>
            </a:r>
          </a:p>
        </p:txBody>
      </p:sp>
      <p:sp>
        <p:nvSpPr>
          <p:cNvPr id="126" name="Problem"/>
          <p:cNvSpPr/>
          <p:nvPr/>
        </p:nvSpPr>
        <p:spPr>
          <a:xfrm>
            <a:off x="914400" y="635508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88720" y="6583680"/>
            <a:ext cx="658368" cy="65836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Picture 127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60" y="6728520"/>
            <a:ext cx="368686" cy="368686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2011680" y="6583680"/>
            <a:ext cx="4023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835A07"/>
                </a:solidFill>
                <a:latin typeface="Montserrat"/>
              </a:rPr>
              <a:t>PROBLEM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88720" y="7452360"/>
            <a:ext cx="4800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8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Quotes differ by size and purity, so they cannot be compared at a glance</a:t>
            </a:r>
          </a:p>
          <a:p>
            <a:pPr algn="l" marL="292608" indent="-292608">
              <a:spcAft>
                <a:spcPts val="8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Is a price gap real, or just a unit mix-up?</a:t>
            </a:r>
          </a:p>
        </p:txBody>
      </p:sp>
      <p:sp>
        <p:nvSpPr>
          <p:cNvPr id="131" name="Impact"/>
          <p:cNvSpPr/>
          <p:nvPr/>
        </p:nvSpPr>
        <p:spPr>
          <a:xfrm>
            <a:off x="6464808" y="635508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6739128" y="6583680"/>
            <a:ext cx="658368" cy="65836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3" name="Picture 132" descr="activity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968" y="6728520"/>
            <a:ext cx="368686" cy="368686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7562088" y="6583680"/>
            <a:ext cx="4023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835A07"/>
                </a:solidFill>
                <a:latin typeface="Montserrat"/>
              </a:rPr>
              <a:t>IMPACT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739128" y="7452360"/>
            <a:ext cx="4800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8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The 8 g coin costs 0.6–0.7% more per gram, in all 41 contract months since late 2023</a:t>
            </a:r>
          </a:p>
          <a:p>
            <a:pPr algn="l" marL="292608" indent="-292608">
              <a:spcAft>
                <a:spcPts val="8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In the 2026 gold crash, small contracts sat 2.7% above GOLDM</a:t>
            </a:r>
          </a:p>
        </p:txBody>
      </p:sp>
      <p:sp>
        <p:nvSpPr>
          <p:cNvPr id="136" name="Theme alignment"/>
          <p:cNvSpPr/>
          <p:nvPr/>
        </p:nvSpPr>
        <p:spPr>
          <a:xfrm>
            <a:off x="12015216" y="635508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FBF4E4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2289536" y="6583680"/>
            <a:ext cx="658368" cy="65836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Picture 137" descr="targ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4376" y="6728520"/>
            <a:ext cx="368686" cy="368686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13112496" y="6583680"/>
            <a:ext cx="4023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835A07"/>
                </a:solidFill>
                <a:latin typeface="Montserrat"/>
              </a:rPr>
              <a:t>THEME ALIGNMENT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289536" y="7452360"/>
            <a:ext cx="4800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8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Problem 03: Commodity Derivatives Intelligence</a:t>
            </a:r>
          </a:p>
          <a:p>
            <a:pPr algn="l" marL="292608" indent="-292608">
              <a:spcAft>
                <a:spcPts val="8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Covers fair value, futures curve, backtest, alerts and contract calendar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Kicker"/>
          <p:cNvSpPr txBox="1"/>
          <p:nvPr/>
        </p:nvSpPr>
        <p:spPr>
          <a:xfrm>
            <a:off x="914400" y="1463040"/>
            <a:ext cx="1645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35A07"/>
                </a:solidFill>
                <a:latin typeface="Montserrat"/>
              </a:rPr>
              <a:t>SOLUTION</a:t>
            </a:r>
          </a:p>
        </p:txBody>
      </p:sp>
      <p:sp>
        <p:nvSpPr>
          <p:cNvPr id="109" name="Title"/>
          <p:cNvSpPr txBox="1"/>
          <p:nvPr/>
        </p:nvSpPr>
        <p:spPr>
          <a:xfrm>
            <a:off x="914400" y="1828800"/>
            <a:ext cx="1645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D1D1F"/>
                </a:solidFill>
                <a:latin typeface="Montserrat"/>
              </a:rPr>
              <a:t>Parity tells a trader when a price gap is real</a:t>
            </a:r>
          </a:p>
        </p:txBody>
      </p:sp>
      <p:pic>
        <p:nvPicPr>
          <p:cNvPr id="110" name="Dashboard screenshot" descr="dash-overview-v3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88920"/>
            <a:ext cx="9326880" cy="4453585"/>
          </a:xfrm>
          <a:prstGeom prst="rect">
            <a:avLst/>
          </a:prstGeom>
          <a:ln w="19050">
            <a:solidFill>
              <a:srgbClr val="DDD6C8"/>
            </a:solidFill>
          </a:ln>
        </p:spPr>
      </p:pic>
      <p:sp>
        <p:nvSpPr>
          <p:cNvPr id="111" name="Live badge"/>
          <p:cNvSpPr/>
          <p:nvPr/>
        </p:nvSpPr>
        <p:spPr>
          <a:xfrm>
            <a:off x="914400" y="7424927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14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4400" y="7424927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LIVE PROTOTYPE</a:t>
            </a:r>
          </a:p>
        </p:txBody>
      </p:sp>
      <p:sp>
        <p:nvSpPr>
          <p:cNvPr id="113" name="Live link">
            <a:hlinkClick r:id="rId5"/>
          </p:cNvPr>
          <p:cNvSpPr txBox="1"/>
          <p:nvPr/>
        </p:nvSpPr>
        <p:spPr>
          <a:xfrm>
            <a:off x="3840480" y="7424927"/>
            <a:ext cx="6400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835A07"/>
                </a:solidFill>
                <a:latin typeface="Calibri"/>
              </a:rPr>
              <a:t>parity-gold-site.vercel.app</a:t>
            </a:r>
            <a:r>
              <a:rPr sz="1700" b="0">
                <a:solidFill>
                  <a:srgbClr val="4A4A50"/>
                </a:solidFill>
                <a:latin typeface="Calibri"/>
              </a:rPr>
              <a:t>   8 pages, open in any browser</a:t>
            </a:r>
          </a:p>
        </p:txBody>
      </p:sp>
      <p:sp>
        <p:nvSpPr>
          <p:cNvPr id="114" name="Result"/>
          <p:cNvSpPr/>
          <p:nvPr/>
        </p:nvSpPr>
        <p:spPr>
          <a:xfrm>
            <a:off x="914400" y="8229600"/>
            <a:ext cx="9326880" cy="1508760"/>
          </a:xfrm>
          <a:prstGeom prst="roundRect">
            <a:avLst>
              <a:gd name="adj" fmla="val 5000"/>
            </a:avLst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88720" y="8503920"/>
            <a:ext cx="731520" cy="73152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Picture 115" descr="flas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9654" y="8664854"/>
            <a:ext cx="409651" cy="409651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2148840" y="8385048"/>
            <a:ext cx="7909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835A07"/>
                </a:solidFill>
                <a:latin typeface="Montserrat"/>
              </a:rPr>
              <a:t>TESTED ONCE ON 8 YEARS IT NEVER SAW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D1D1F"/>
                </a:solidFill>
                <a:latin typeface="Calibri"/>
              </a:rPr>
              <a:t>The fair-price rule made money in all 3 sealed tests, after every cost. The edge is small, and we say so.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744200" y="27889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35A07"/>
                </a:solidFill>
                <a:latin typeface="Montserrat"/>
              </a:rPr>
              <a:t>WHAT IT DOES</a:t>
            </a:r>
          </a:p>
        </p:txBody>
      </p:sp>
      <p:sp>
        <p:nvSpPr>
          <p:cNvPr id="119" name="Oval 118"/>
          <p:cNvSpPr/>
          <p:nvPr/>
        </p:nvSpPr>
        <p:spPr>
          <a:xfrm>
            <a:off x="10744200" y="3246120"/>
            <a:ext cx="566928" cy="56692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scal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8924" y="3370844"/>
            <a:ext cx="317479" cy="317479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1521440" y="3246120"/>
            <a:ext cx="5852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D1D1F"/>
                </a:solidFill>
                <a:latin typeface="Calibri"/>
              </a:rPr>
              <a:t>Fair comparison</a:t>
            </a:r>
            <a:r>
              <a:rPr sz="1800" b="0">
                <a:solidFill>
                  <a:srgbClr val="4A4A50"/>
                </a:solidFill>
                <a:latin typeface="Calibri"/>
              </a:rPr>
              <a:t>  all four in ₹ per pure gram</a:t>
            </a:r>
          </a:p>
        </p:txBody>
      </p:sp>
      <p:sp>
        <p:nvSpPr>
          <p:cNvPr id="122" name="Oval 121"/>
          <p:cNvSpPr/>
          <p:nvPr/>
        </p:nvSpPr>
        <p:spPr>
          <a:xfrm>
            <a:off x="10744200" y="3959352"/>
            <a:ext cx="566928" cy="56692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bel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8924" y="4084076"/>
            <a:ext cx="317479" cy="317479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1521440" y="3959352"/>
            <a:ext cx="5852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D1D1F"/>
                </a:solidFill>
                <a:latin typeface="Calibri"/>
              </a:rPr>
              <a:t>Quiet alerts</a:t>
            </a:r>
            <a:r>
              <a:rPr sz="1800" b="0">
                <a:solidFill>
                  <a:srgbClr val="4A4A50"/>
                </a:solidFill>
                <a:latin typeface="Calibri"/>
              </a:rPr>
              <a:t>  only when a price strays far from fair</a:t>
            </a:r>
          </a:p>
        </p:txBody>
      </p:sp>
      <p:sp>
        <p:nvSpPr>
          <p:cNvPr id="125" name="Oval 124"/>
          <p:cNvSpPr/>
          <p:nvPr/>
        </p:nvSpPr>
        <p:spPr>
          <a:xfrm>
            <a:off x="10744200" y="4672583"/>
            <a:ext cx="566928" cy="56692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Picture 125" descr="flas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8924" y="4797308"/>
            <a:ext cx="317479" cy="317479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1521440" y="4672583"/>
            <a:ext cx="5852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D1D1F"/>
                </a:solidFill>
                <a:latin typeface="Calibri"/>
              </a:rPr>
              <a:t>Honest backtests</a:t>
            </a:r>
            <a:r>
              <a:rPr sz="1800" b="0">
                <a:solidFill>
                  <a:srgbClr val="4A4A50"/>
                </a:solidFill>
                <a:latin typeface="Calibri"/>
              </a:rPr>
              <a:t>  after every fee, tax and slippage</a:t>
            </a:r>
          </a:p>
        </p:txBody>
      </p:sp>
      <p:sp>
        <p:nvSpPr>
          <p:cNvPr id="128" name="Oval 127"/>
          <p:cNvSpPr/>
          <p:nvPr/>
        </p:nvSpPr>
        <p:spPr>
          <a:xfrm>
            <a:off x="10744200" y="5385816"/>
            <a:ext cx="566928" cy="56692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Picture 128" descr="calendar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8924" y="5510540"/>
            <a:ext cx="317479" cy="317479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1521440" y="5385816"/>
            <a:ext cx="5852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D1D1F"/>
                </a:solidFill>
                <a:latin typeface="Calibri"/>
              </a:rPr>
              <a:t>Contract calendar</a:t>
            </a:r>
            <a:r>
              <a:rPr sz="1800" b="0">
                <a:solidFill>
                  <a:srgbClr val="4A4A50"/>
                </a:solidFill>
                <a:latin typeface="Calibri"/>
              </a:rPr>
              <a:t>  every trade vs delivery dates</a:t>
            </a:r>
          </a:p>
        </p:txBody>
      </p:sp>
      <p:sp>
        <p:nvSpPr>
          <p:cNvPr id="131" name="Why Parity"/>
          <p:cNvSpPr/>
          <p:nvPr/>
        </p:nvSpPr>
        <p:spPr>
          <a:xfrm>
            <a:off x="10744200" y="6263640"/>
            <a:ext cx="662940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018520" y="6419088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35A07"/>
                </a:solidFill>
                <a:latin typeface="Montserrat"/>
              </a:rPr>
              <a:t>WHY PARITY, NOT A SNAPSHOT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018520" y="685800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835A07"/>
                </a:solidFill>
                <a:latin typeface="Montserrat"/>
              </a:rPr>
              <a:t>01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567160" y="6858000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1D1F"/>
                </a:solidFill>
                <a:latin typeface="Calibri"/>
              </a:rPr>
              <a:t>23 years of MCX data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4A4A50"/>
                </a:solidFill>
                <a:latin typeface="Calibri"/>
              </a:rPr>
              <a:t>710 contracts, 2003–2026, every row checked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018520" y="7562088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835A07"/>
                </a:solidFill>
                <a:latin typeface="Montserrat"/>
              </a:rPr>
              <a:t>02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567160" y="7562088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1D1F"/>
                </a:solidFill>
                <a:latin typeface="Calibri"/>
              </a:rPr>
              <a:t>8 sealed years, tested once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4A4A50"/>
                </a:solidFill>
                <a:latin typeface="Calibri"/>
              </a:rPr>
              <a:t>rules frozen in Git before the data was opened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018520" y="8266175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835A07"/>
                </a:solidFill>
                <a:latin typeface="Montserrat"/>
              </a:rPr>
              <a:t>03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567160" y="8266175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1D1F"/>
                </a:solidFill>
                <a:latin typeface="Calibri"/>
              </a:rPr>
              <a:t>Fair price off GOLDM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4A4A50"/>
                </a:solidFill>
                <a:latin typeface="Calibri"/>
              </a:rPr>
              <a:t>the contract with 20–60× the volume, not thin pairs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18520" y="8970264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835A07"/>
                </a:solidFill>
                <a:latin typeface="Montserrat"/>
              </a:rPr>
              <a:t>04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567160" y="8970264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1D1F"/>
                </a:solidFill>
                <a:latin typeface="Calibri"/>
              </a:rPr>
              <a:t>MCX's own rules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4A4A50"/>
                </a:solidFill>
                <a:latin typeface="Calibri"/>
              </a:rPr>
              <a:t>every trade checked against the delivery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Kicker"/>
          <p:cNvSpPr txBox="1"/>
          <p:nvPr/>
        </p:nvSpPr>
        <p:spPr>
          <a:xfrm>
            <a:off x="914400" y="1463040"/>
            <a:ext cx="1645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35A07"/>
                </a:solidFill>
                <a:latin typeface="Montserrat"/>
              </a:rPr>
              <a:t>ARCHITECTURE</a:t>
            </a:r>
          </a:p>
        </p:txBody>
      </p:sp>
      <p:sp>
        <p:nvSpPr>
          <p:cNvPr id="118" name="Title"/>
          <p:cNvSpPr txBox="1"/>
          <p:nvPr/>
        </p:nvSpPr>
        <p:spPr>
          <a:xfrm>
            <a:off x="914400" y="1828800"/>
            <a:ext cx="1645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D1D1F"/>
                </a:solidFill>
                <a:latin typeface="Montserrat"/>
              </a:rPr>
              <a:t>From exchange files to a trader's screen</a:t>
            </a:r>
          </a:p>
        </p:txBody>
      </p:sp>
      <p:sp>
        <p:nvSpPr>
          <p:cNvPr id="119" name="Flow 1"/>
          <p:cNvSpPr/>
          <p:nvPr/>
        </p:nvSpPr>
        <p:spPr>
          <a:xfrm>
            <a:off x="914400" y="2880360"/>
            <a:ext cx="2889504" cy="2514600"/>
          </a:xfrm>
          <a:prstGeom prst="roundRect">
            <a:avLst>
              <a:gd name="adj" fmla="val 5000"/>
            </a:avLst>
          </a:prstGeom>
          <a:solidFill>
            <a:srgbClr val="FBF4E4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43000" y="3090672"/>
            <a:ext cx="685800" cy="68580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1" name="Picture 120" descr="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" y="3241548"/>
            <a:ext cx="384048" cy="384048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1143000" y="3904487"/>
            <a:ext cx="2478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D1D1F"/>
                </a:solidFill>
                <a:latin typeface="Calibri"/>
              </a:rPr>
              <a:t>MCX files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43000" y="4389120"/>
            <a:ext cx="247802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4A4A50"/>
                </a:solidFill>
                <a:latin typeface="Calibri"/>
              </a:rPr>
              <a:t>Official daily Bhavcopy, 2003–2026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3858768" y="4133087"/>
            <a:ext cx="393192" cy="0"/>
          </a:xfrm>
          <a:prstGeom prst="line">
            <a:avLst/>
          </a:prstGeom>
          <a:ln w="38100">
            <a:solidFill>
              <a:srgbClr val="835A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Flow 2"/>
          <p:cNvSpPr/>
          <p:nvPr/>
        </p:nvSpPr>
        <p:spPr>
          <a:xfrm>
            <a:off x="4306824" y="2880360"/>
            <a:ext cx="2889504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535424" y="3090672"/>
            <a:ext cx="685800" cy="68580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filt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3241548"/>
            <a:ext cx="384048" cy="38404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4535424" y="3904487"/>
            <a:ext cx="2478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D1D1F"/>
                </a:solidFill>
                <a:latin typeface="Calibri"/>
              </a:rPr>
              <a:t>Clean &amp; check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35424" y="4389120"/>
            <a:ext cx="247802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4A4A50"/>
                </a:solidFill>
                <a:latin typeface="Calibri"/>
              </a:rPr>
              <a:t>Duplicates out, every row checked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7251192" y="4133087"/>
            <a:ext cx="393191" cy="0"/>
          </a:xfrm>
          <a:prstGeom prst="line">
            <a:avLst/>
          </a:prstGeom>
          <a:ln w="38100">
            <a:solidFill>
              <a:srgbClr val="835A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Flow 3"/>
          <p:cNvSpPr/>
          <p:nvPr/>
        </p:nvSpPr>
        <p:spPr>
          <a:xfrm>
            <a:off x="7699248" y="2880360"/>
            <a:ext cx="2889504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27848" y="3090672"/>
            <a:ext cx="685800" cy="68580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3" name="Picture 132" descr="cpu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8723" y="3241548"/>
            <a:ext cx="384048" cy="384048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7927848" y="3904487"/>
            <a:ext cx="2478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D1D1F"/>
                </a:solidFill>
                <a:latin typeface="Calibri"/>
              </a:rPr>
              <a:t>Analyse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27848" y="4389120"/>
            <a:ext cx="247802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4A4A50"/>
                </a:solidFill>
                <a:latin typeface="Calibri"/>
              </a:rPr>
              <a:t>Fair value, curve, backtests, alerts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10643616" y="4133087"/>
            <a:ext cx="393192" cy="0"/>
          </a:xfrm>
          <a:prstGeom prst="line">
            <a:avLst/>
          </a:prstGeom>
          <a:ln w="38100">
            <a:solidFill>
              <a:srgbClr val="835A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Flow 4"/>
          <p:cNvSpPr/>
          <p:nvPr/>
        </p:nvSpPr>
        <p:spPr>
          <a:xfrm>
            <a:off x="11091672" y="2880360"/>
            <a:ext cx="2889504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1320272" y="3090672"/>
            <a:ext cx="685800" cy="68580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Picture 138" descr="fil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1147" y="3241548"/>
            <a:ext cx="384048" cy="384048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11320272" y="3904487"/>
            <a:ext cx="2478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D1D1F"/>
                </a:solidFill>
                <a:latin typeface="Calibri"/>
              </a:rPr>
              <a:t>Results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320272" y="4389120"/>
            <a:ext cx="247802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4A4A50"/>
                </a:solidFill>
                <a:latin typeface="Calibri"/>
              </a:rPr>
              <a:t>Every number saved to a file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14036040" y="4133087"/>
            <a:ext cx="393192" cy="0"/>
          </a:xfrm>
          <a:prstGeom prst="line">
            <a:avLst/>
          </a:prstGeom>
          <a:ln w="38100">
            <a:solidFill>
              <a:srgbClr val="835A0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Flow 5"/>
          <p:cNvSpPr/>
          <p:nvPr/>
        </p:nvSpPr>
        <p:spPr>
          <a:xfrm>
            <a:off x="14484096" y="2880360"/>
            <a:ext cx="2889504" cy="2514600"/>
          </a:xfrm>
          <a:prstGeom prst="roundRect">
            <a:avLst>
              <a:gd name="adj" fmla="val 5000"/>
            </a:avLst>
          </a:prstGeom>
          <a:solidFill>
            <a:srgbClr val="FBF4E4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4712696" y="3090672"/>
            <a:ext cx="685800" cy="68580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layer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63572" y="3241548"/>
            <a:ext cx="384048" cy="384048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4712696" y="3904487"/>
            <a:ext cx="2478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D1D1F"/>
                </a:solidFill>
                <a:latin typeface="Calibri"/>
              </a:rPr>
              <a:t>Export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712696" y="4389120"/>
            <a:ext cx="247802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4A4A50"/>
                </a:solidFill>
                <a:latin typeface="Calibri"/>
              </a:rPr>
              <a:t>One data file feeds every output</a:t>
            </a:r>
          </a:p>
        </p:txBody>
      </p:sp>
      <p:sp>
        <p:nvSpPr>
          <p:cNvPr id="148" name="Output 1"/>
          <p:cNvSpPr/>
          <p:nvPr/>
        </p:nvSpPr>
        <p:spPr>
          <a:xfrm>
            <a:off x="914400" y="576072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143000" y="5897880"/>
            <a:ext cx="777240" cy="777240"/>
          </a:xfrm>
          <a:prstGeom prst="ellipse">
            <a:avLst/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moni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3992" y="6068872"/>
            <a:ext cx="435254" cy="435254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2103120" y="5760720"/>
            <a:ext cx="4023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D1D1F"/>
                </a:solidFill>
                <a:latin typeface="Calibri"/>
              </a:rPr>
              <a:t>Dashboard  </a:t>
            </a:r>
            <a:r>
              <a:rPr sz="1900" b="0">
                <a:solidFill>
                  <a:srgbClr val="4A4A50"/>
                </a:solidFill>
                <a:latin typeface="Calibri"/>
              </a:rPr>
              <a:t>for traders</a:t>
            </a:r>
          </a:p>
        </p:txBody>
      </p:sp>
      <p:sp>
        <p:nvSpPr>
          <p:cNvPr id="152" name="Output 2"/>
          <p:cNvSpPr/>
          <p:nvPr/>
        </p:nvSpPr>
        <p:spPr>
          <a:xfrm>
            <a:off x="6464808" y="576072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693408" y="5897880"/>
            <a:ext cx="777240" cy="777240"/>
          </a:xfrm>
          <a:prstGeom prst="ellipse">
            <a:avLst/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repo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4400" y="6068872"/>
            <a:ext cx="435254" cy="435254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7653528" y="5760720"/>
            <a:ext cx="4023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D1D1F"/>
                </a:solidFill>
                <a:latin typeface="Calibri"/>
              </a:rPr>
              <a:t>Report  </a:t>
            </a:r>
            <a:r>
              <a:rPr sz="1900" b="0">
                <a:solidFill>
                  <a:srgbClr val="4A4A50"/>
                </a:solidFill>
                <a:latin typeface="Calibri"/>
              </a:rPr>
              <a:t>17-page PDF</a:t>
            </a:r>
          </a:p>
        </p:txBody>
      </p:sp>
      <p:sp>
        <p:nvSpPr>
          <p:cNvPr id="156" name="Output 3"/>
          <p:cNvSpPr/>
          <p:nvPr/>
        </p:nvSpPr>
        <p:spPr>
          <a:xfrm>
            <a:off x="12015216" y="5760720"/>
            <a:ext cx="53035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2243816" y="5897880"/>
            <a:ext cx="777240" cy="777240"/>
          </a:xfrm>
          <a:prstGeom prst="ellipse">
            <a:avLst/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pla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14808" y="6068872"/>
            <a:ext cx="435254" cy="435254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13203936" y="5760720"/>
            <a:ext cx="4023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D1D1F"/>
                </a:solidFill>
                <a:latin typeface="Calibri"/>
              </a:rPr>
              <a:t>Pitch  </a:t>
            </a:r>
            <a:r>
              <a:rPr sz="1900" b="0">
                <a:solidFill>
                  <a:srgbClr val="4A4A50"/>
                </a:solidFill>
                <a:latin typeface="Calibri"/>
              </a:rPr>
              <a:t>interactive story</a:t>
            </a:r>
          </a:p>
        </p:txBody>
      </p:sp>
      <p:sp>
        <p:nvSpPr>
          <p:cNvPr id="160" name="Oval 159"/>
          <p:cNvSpPr/>
          <p:nvPr/>
        </p:nvSpPr>
        <p:spPr>
          <a:xfrm>
            <a:off x="914400" y="7178040"/>
            <a:ext cx="566928" cy="56692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code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9124" y="7302764"/>
            <a:ext cx="317479" cy="317479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1645920" y="71780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835A07"/>
                </a:solidFill>
                <a:latin typeface="Montserrat"/>
              </a:rPr>
              <a:t>TECH STACK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14400" y="7909560"/>
            <a:ext cx="5303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4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Python, pandas, NumPy</a:t>
            </a:r>
          </a:p>
          <a:p>
            <a:pPr algn="l" marL="292608" indent="-292608">
              <a:spcAft>
                <a:spcPts val="4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React 19 built with esbuild</a:t>
            </a:r>
          </a:p>
          <a:p>
            <a:pPr algn="l" marL="292608" indent="-292608">
              <a:spcAft>
                <a:spcPts val="4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ReportLab and Matplotlib</a:t>
            </a:r>
          </a:p>
        </p:txBody>
      </p:sp>
      <p:sp>
        <p:nvSpPr>
          <p:cNvPr id="164" name="Oval 163"/>
          <p:cNvSpPr/>
          <p:nvPr/>
        </p:nvSpPr>
        <p:spPr>
          <a:xfrm>
            <a:off x="6464808" y="7178040"/>
            <a:ext cx="566928" cy="56692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5" name="Picture 164" descr="git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9532" y="7302764"/>
            <a:ext cx="317479" cy="317479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7196328" y="71780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835A07"/>
                </a:solidFill>
                <a:latin typeface="Montserrat"/>
              </a:rPr>
              <a:t>HOW WE KEEP IT HONEST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64808" y="7909560"/>
            <a:ext cx="5303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4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Rules time-stamped in Git</a:t>
            </a:r>
          </a:p>
          <a:p>
            <a:pPr algn="l" marL="292608" indent="-292608">
              <a:spcAft>
                <a:spcPts val="4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Sealed years kept in a separate file</a:t>
            </a:r>
          </a:p>
          <a:p>
            <a:pPr algn="l" marL="292608" indent="-292608">
              <a:spcAft>
                <a:spcPts val="4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10 automated tests</a:t>
            </a:r>
          </a:p>
        </p:txBody>
      </p:sp>
      <p:sp>
        <p:nvSpPr>
          <p:cNvPr id="168" name="Oval 167"/>
          <p:cNvSpPr/>
          <p:nvPr/>
        </p:nvSpPr>
        <p:spPr>
          <a:xfrm>
            <a:off x="12015216" y="7178040"/>
            <a:ext cx="566928" cy="56692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globe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39940" y="7302764"/>
            <a:ext cx="317479" cy="317479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12746736" y="71780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835A07"/>
                </a:solidFill>
                <a:latin typeface="Montserrat"/>
              </a:rPr>
              <a:t>APIS USED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015216" y="7909560"/>
            <a:ext cx="5303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4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No paid APIs, no keys</a:t>
            </a:r>
          </a:p>
          <a:p>
            <a:pPr algn="l" marL="292608" indent="-292608">
              <a:spcAft>
                <a:spcPts val="4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MCX's public Bhavcopy page</a:t>
            </a:r>
          </a:p>
          <a:p>
            <a:pPr algn="l" marL="292608" indent="-292608">
              <a:spcAft>
                <a:spcPts val="4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Works fully offline</a:t>
            </a:r>
          </a:p>
        </p:txBody>
      </p:sp>
      <p:sp>
        <p:nvSpPr>
          <p:cNvPr id="172" name="TextBox 171">
            <a:hlinkClick r:id="rId15"/>
          </p:cNvPr>
          <p:cNvSpPr txBox="1"/>
          <p:nvPr/>
        </p:nvSpPr>
        <p:spPr>
          <a:xfrm>
            <a:off x="914400" y="9646920"/>
            <a:ext cx="1645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A4A50"/>
                </a:solidFill>
                <a:latin typeface="Calibri"/>
              </a:rPr>
              <a:t>Live: </a:t>
            </a:r>
            <a:r>
              <a:rPr sz="1600" b="1">
                <a:solidFill>
                  <a:srgbClr val="835A07"/>
                </a:solidFill>
                <a:latin typeface="Calibri"/>
              </a:rPr>
              <a:t>parity-gold-site.vercel.app</a:t>
            </a:r>
            <a:r>
              <a:rPr sz="1600" b="0">
                <a:solidFill>
                  <a:srgbClr val="4A4A50"/>
                </a:solidFill>
                <a:latin typeface="Calibri"/>
              </a:rPr>
              <a:t>     Code: github.com/nikhilkumar-dev0310/HACKINHILLS-SYNTAXTERROR-TAN-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Kicker"/>
          <p:cNvSpPr txBox="1"/>
          <p:nvPr/>
        </p:nvSpPr>
        <p:spPr>
          <a:xfrm>
            <a:off x="914400" y="1463040"/>
            <a:ext cx="1645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35A07"/>
                </a:solidFill>
                <a:latin typeface="Montserrat"/>
              </a:rPr>
              <a:t>MARKET RESEARCH / ANALYSIS</a:t>
            </a:r>
          </a:p>
        </p:txBody>
      </p:sp>
      <p:sp>
        <p:nvSpPr>
          <p:cNvPr id="127" name="Title"/>
          <p:cNvSpPr txBox="1"/>
          <p:nvPr/>
        </p:nvSpPr>
        <p:spPr>
          <a:xfrm>
            <a:off x="914400" y="1828800"/>
            <a:ext cx="1645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D1D1F"/>
                </a:solidFill>
                <a:latin typeface="Montserrat"/>
              </a:rPr>
              <a:t>Gold futures in India: big, and growing fast</a:t>
            </a:r>
          </a:p>
        </p:txBody>
      </p:sp>
      <p:sp>
        <p:nvSpPr>
          <p:cNvPr id="128" name="Stat 1"/>
          <p:cNvSpPr/>
          <p:nvPr/>
        </p:nvSpPr>
        <p:spPr>
          <a:xfrm>
            <a:off x="914400" y="288036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234440" y="306324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>
                <a:solidFill>
                  <a:srgbClr val="835A07"/>
                </a:solidFill>
                <a:latin typeface="Montserrat"/>
              </a:rPr>
              <a:t>₹28,484 cr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34440" y="402336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traded every day in MCX gold futures, FY2025-26</a:t>
            </a:r>
          </a:p>
        </p:txBody>
      </p:sp>
      <p:sp>
        <p:nvSpPr>
          <p:cNvPr id="131" name="Stat 2"/>
          <p:cNvSpPr/>
          <p:nvPr/>
        </p:nvSpPr>
        <p:spPr>
          <a:xfrm>
            <a:off x="6464808" y="288036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784848" y="306324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>
                <a:solidFill>
                  <a:srgbClr val="835A07"/>
                </a:solidFill>
                <a:latin typeface="Montserrat"/>
              </a:rPr>
              <a:t>3.4×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784848" y="402336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growth in one year (₹8,449 cr a day in FY2024-25)</a:t>
            </a:r>
          </a:p>
        </p:txBody>
      </p:sp>
      <p:sp>
        <p:nvSpPr>
          <p:cNvPr id="134" name="Stat 3"/>
          <p:cNvSpPr/>
          <p:nvPr/>
        </p:nvSpPr>
        <p:spPr>
          <a:xfrm>
            <a:off x="12015216" y="288036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2335256" y="306324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>
                <a:solidFill>
                  <a:srgbClr val="835A07"/>
                </a:solidFill>
                <a:latin typeface="Montserrat"/>
              </a:rPr>
              <a:t>57%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335256" y="402336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of all MCX trading is bullion, Q2 FY26 (44% a year earlier)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4400" y="5230368"/>
            <a:ext cx="1645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A4A50"/>
                </a:solidFill>
                <a:latin typeface="Calibri"/>
              </a:rPr>
              <a:t>Sources: Business Today, 14 Aug 2026 (MCX data for FY2025-26); Business Standard, 7 Nov 2025 (MCX Q2 FY26 results).</a:t>
            </a:r>
          </a:p>
        </p:txBody>
      </p:sp>
      <p:sp>
        <p:nvSpPr>
          <p:cNvPr id="138" name="Oval 137"/>
          <p:cNvSpPr/>
          <p:nvPr/>
        </p:nvSpPr>
        <p:spPr>
          <a:xfrm>
            <a:off x="914400" y="5806440"/>
            <a:ext cx="658368" cy="65836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Picture 138" descr="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240" y="5951280"/>
            <a:ext cx="368686" cy="368686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1783080" y="5806440"/>
            <a:ext cx="7223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835A07"/>
                </a:solidFill>
                <a:latin typeface="Montserrat"/>
              </a:rPr>
              <a:t>TARGET USERS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783080" y="6537959"/>
            <a:ext cx="7223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3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Traders choosing which gold contract to trade</a:t>
            </a:r>
          </a:p>
          <a:p>
            <a:pPr algn="l" marL="292608" indent="-292608">
              <a:spcAft>
                <a:spcPts val="3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Arbitrage desks, jewellers hedging, broker research teams</a:t>
            </a:r>
          </a:p>
        </p:txBody>
      </p:sp>
      <p:sp>
        <p:nvSpPr>
          <p:cNvPr id="142" name="Oval 141"/>
          <p:cNvSpPr/>
          <p:nvPr/>
        </p:nvSpPr>
        <p:spPr>
          <a:xfrm>
            <a:off x="9281160" y="5806440"/>
            <a:ext cx="658368" cy="65836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coin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6000" y="5951280"/>
            <a:ext cx="368686" cy="368686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10149840" y="5806440"/>
            <a:ext cx="7223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835A07"/>
                </a:solidFill>
                <a:latin typeface="Montserrat"/>
              </a:rPr>
              <a:t>MARKET SIZE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149840" y="6537959"/>
            <a:ext cx="7223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3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MCX trades ₹4.11 lakh crore a day across all contracts (Q2 FY26)</a:t>
            </a:r>
          </a:p>
          <a:p>
            <a:pPr algn="l" marL="292608" indent="-292608">
              <a:spcAft>
                <a:spcPts val="3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Gold comes in 1 kg, 100 g, 10 g, 8 g and 1 g lots</a:t>
            </a:r>
          </a:p>
        </p:txBody>
      </p:sp>
      <p:sp>
        <p:nvSpPr>
          <p:cNvPr id="146" name="Oval 145"/>
          <p:cNvSpPr/>
          <p:nvPr/>
        </p:nvSpPr>
        <p:spPr>
          <a:xfrm>
            <a:off x="914400" y="7818120"/>
            <a:ext cx="658368" cy="65836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wall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240" y="7962960"/>
            <a:ext cx="368686" cy="368686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1783080" y="7818120"/>
            <a:ext cx="7223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835A07"/>
                </a:solidFill>
                <a:latin typeface="Montserrat"/>
              </a:rPr>
              <a:t>REVENUE MODEL (OUR PLAN)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783080" y="8549640"/>
            <a:ext cx="7223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3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Free dashboard; paid alerts by email or Telegram</a:t>
            </a:r>
          </a:p>
          <a:p>
            <a:pPr algn="l" marL="292608" indent="-292608">
              <a:spcAft>
                <a:spcPts val="3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Licence for broker research desks, and a data feed</a:t>
            </a:r>
          </a:p>
        </p:txBody>
      </p:sp>
      <p:sp>
        <p:nvSpPr>
          <p:cNvPr id="150" name="Oval 149"/>
          <p:cNvSpPr/>
          <p:nvPr/>
        </p:nvSpPr>
        <p:spPr>
          <a:xfrm>
            <a:off x="9281160" y="7818120"/>
            <a:ext cx="658368" cy="658368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1" name="Picture 150" descr="tren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000" y="7962960"/>
            <a:ext cx="368686" cy="368686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10149840" y="7818120"/>
            <a:ext cx="7223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835A07"/>
                </a:solidFill>
                <a:latin typeface="Montserrat"/>
              </a:rPr>
              <a:t>EXPECTED GROWTH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149840" y="8549640"/>
            <a:ext cx="7223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3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Small lots (10 g, 1 g) are bringing in new traders</a:t>
            </a:r>
          </a:p>
          <a:p>
            <a:pPr algn="l" marL="292608" indent="-292608">
              <a:spcAft>
                <a:spcPts val="300"/>
              </a:spcAft>
              <a:buClr>
                <a:srgbClr val="835A07"/>
              </a:buClr>
              <a:buChar char="•"/>
            </a:pPr>
            <a:r>
              <a:rPr sz="2000" b="0">
                <a:solidFill>
                  <a:srgbClr val="1D1D1F"/>
                </a:solidFill>
                <a:latin typeface="Calibri"/>
              </a:rPr>
              <a:t>Same method extends to silver: SILVERM, SILVERMIC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Kicker"/>
          <p:cNvSpPr txBox="1"/>
          <p:nvPr/>
        </p:nvSpPr>
        <p:spPr>
          <a:xfrm>
            <a:off x="914400" y="1463040"/>
            <a:ext cx="1645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35A07"/>
                </a:solidFill>
                <a:latin typeface="Montserrat"/>
              </a:rPr>
              <a:t>FUTURE SCOPE</a:t>
            </a:r>
          </a:p>
        </p:txBody>
      </p:sp>
      <p:sp>
        <p:nvSpPr>
          <p:cNvPr id="136" name="Title"/>
          <p:cNvSpPr txBox="1"/>
          <p:nvPr/>
        </p:nvSpPr>
        <p:spPr>
          <a:xfrm>
            <a:off x="914400" y="1828800"/>
            <a:ext cx="1645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D1D1F"/>
                </a:solidFill>
                <a:latin typeface="Montserrat"/>
              </a:rPr>
              <a:t>What comes next</a:t>
            </a:r>
          </a:p>
        </p:txBody>
      </p:sp>
      <p:sp>
        <p:nvSpPr>
          <p:cNvPr id="137" name="Live paper trading"/>
          <p:cNvSpPr/>
          <p:nvPr/>
        </p:nvSpPr>
        <p:spPr>
          <a:xfrm>
            <a:off x="914400" y="288036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FBF4E4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234440" y="3200400"/>
            <a:ext cx="822960" cy="82296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Picture 138" descr="activit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91" y="3381451"/>
            <a:ext cx="460857" cy="460857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5120640" y="320040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835A07"/>
                </a:solidFill>
                <a:latin typeface="Montserrat"/>
              </a:rPr>
              <a:t>01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34440" y="42062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D1D1F"/>
                </a:solidFill>
                <a:latin typeface="Calibri"/>
              </a:rPr>
              <a:t>Live paper trading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34440" y="4754879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Daily MCX update pipeline is built; next, a day-by-day paper record of the fair-price rule</a:t>
            </a:r>
          </a:p>
        </p:txBody>
      </p:sp>
      <p:sp>
        <p:nvSpPr>
          <p:cNvPr id="143" name="Intraday prices"/>
          <p:cNvSpPr/>
          <p:nvPr/>
        </p:nvSpPr>
        <p:spPr>
          <a:xfrm>
            <a:off x="6464808" y="288036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784848" y="3200400"/>
            <a:ext cx="822960" cy="82296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c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5899" y="3381451"/>
            <a:ext cx="460857" cy="460857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0671048" y="320040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DDD6C8"/>
                </a:solidFill>
                <a:latin typeface="Montserrat"/>
              </a:rPr>
              <a:t>02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84848" y="42062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D1D1F"/>
                </a:solidFill>
                <a:latin typeface="Calibri"/>
              </a:rPr>
              <a:t>Intraday prices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784848" y="4754879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Measure real trading costs instead of assuming them</a:t>
            </a:r>
          </a:p>
        </p:txBody>
      </p:sp>
      <p:sp>
        <p:nvSpPr>
          <p:cNvPr id="149" name="Alerts on your phone"/>
          <p:cNvSpPr/>
          <p:nvPr/>
        </p:nvSpPr>
        <p:spPr>
          <a:xfrm>
            <a:off x="12015216" y="288036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2335256" y="3200400"/>
            <a:ext cx="822960" cy="82296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1" name="Picture 150" descr="bel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6307" y="3381451"/>
            <a:ext cx="460857" cy="460857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16221456" y="320040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DDD6C8"/>
                </a:solidFill>
                <a:latin typeface="Montserrat"/>
              </a:rPr>
              <a:t>03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335256" y="42062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D1D1F"/>
                </a:solidFill>
                <a:latin typeface="Calibri"/>
              </a:rPr>
              <a:t>Alerts on your phone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335256" y="4754879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Email and Telegram alerts that show the cost of acting</a:t>
            </a:r>
          </a:p>
        </p:txBody>
      </p:sp>
      <p:sp>
        <p:nvSpPr>
          <p:cNvPr id="155" name="Longer history"/>
          <p:cNvSpPr/>
          <p:nvPr/>
        </p:nvSpPr>
        <p:spPr>
          <a:xfrm>
            <a:off x="914400" y="6355079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234440" y="6675119"/>
            <a:ext cx="822960" cy="82296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layer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491" y="6856171"/>
            <a:ext cx="460857" cy="460857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5120640" y="6675119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DDD6C8"/>
                </a:solidFill>
                <a:latin typeface="Montserrat"/>
              </a:rPr>
              <a:t>04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34440" y="7680959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D1D1F"/>
                </a:solidFill>
                <a:latin typeface="Calibri"/>
              </a:rPr>
              <a:t>Longer history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34440" y="822960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Measure the coin and 1 g premiums back to 2008</a:t>
            </a:r>
          </a:p>
        </p:txBody>
      </p:sp>
      <p:sp>
        <p:nvSpPr>
          <p:cNvPr id="161" name="Safer rules"/>
          <p:cNvSpPr/>
          <p:nvPr/>
        </p:nvSpPr>
        <p:spPr>
          <a:xfrm>
            <a:off x="6464808" y="6355079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784848" y="6675119"/>
            <a:ext cx="822960" cy="82296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lo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5899" y="6856171"/>
            <a:ext cx="460857" cy="460857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10671048" y="6675119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DDD6C8"/>
                </a:solidFill>
                <a:latin typeface="Montserrat"/>
              </a:rPr>
              <a:t>05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84848" y="7680959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D1D1F"/>
                </a:solidFill>
                <a:latin typeface="Calibri"/>
              </a:rPr>
              <a:t>Safer rules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784848" y="822960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Skip days stuck at the price limit; cross-check with spot gold rates</a:t>
            </a:r>
          </a:p>
        </p:txBody>
      </p:sp>
      <p:sp>
        <p:nvSpPr>
          <p:cNvPr id="167" name="More metals"/>
          <p:cNvSpPr/>
          <p:nvPr/>
        </p:nvSpPr>
        <p:spPr>
          <a:xfrm>
            <a:off x="12015216" y="6355079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2335256" y="6675119"/>
            <a:ext cx="822960" cy="82296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coin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16307" y="6856171"/>
            <a:ext cx="460857" cy="460857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16221456" y="6675119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>
                <a:solidFill>
                  <a:srgbClr val="DDD6C8"/>
                </a:solidFill>
                <a:latin typeface="Montserrat"/>
              </a:rPr>
              <a:t>06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335256" y="7680959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D1D1F"/>
                </a:solidFill>
                <a:latin typeface="Calibri"/>
              </a:rPr>
              <a:t>More metals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2335256" y="8229600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The same method for silver and other multi-size contracts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Kicker"/>
          <p:cNvSpPr txBox="1"/>
          <p:nvPr/>
        </p:nvSpPr>
        <p:spPr>
          <a:xfrm>
            <a:off x="914400" y="1463040"/>
            <a:ext cx="1645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835A07"/>
                </a:solidFill>
                <a:latin typeface="Montserrat"/>
              </a:rPr>
              <a:t>EXTRA: RESULTS</a:t>
            </a:r>
          </a:p>
        </p:txBody>
      </p:sp>
      <p:sp>
        <p:nvSpPr>
          <p:cNvPr id="145" name="Title"/>
          <p:cNvSpPr txBox="1"/>
          <p:nvPr/>
        </p:nvSpPr>
        <p:spPr>
          <a:xfrm>
            <a:off x="914400" y="1828800"/>
            <a:ext cx="1645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D1D1F"/>
                </a:solidFill>
                <a:latin typeface="Montserrat"/>
              </a:rPr>
              <a:t>Tested on 8 years it had never seen</a:t>
            </a:r>
          </a:p>
        </p:txBody>
      </p:sp>
      <p:pic>
        <p:nvPicPr>
          <p:cNvPr id="146" name="Sealed tests chart" descr="deck_sea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88920"/>
            <a:ext cx="9509760" cy="493776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4400" y="777240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A4A50"/>
                </a:solidFill>
                <a:latin typeface="Calibri"/>
              </a:rPr>
              <a:t>Net profit after all costs, 5 bp slippage. Each window run once, with rules frozen first.</a:t>
            </a:r>
          </a:p>
        </p:txBody>
      </p:sp>
      <p:sp>
        <p:nvSpPr>
          <p:cNvPr id="148" name="Oval 147"/>
          <p:cNvSpPr/>
          <p:nvPr/>
        </p:nvSpPr>
        <p:spPr>
          <a:xfrm>
            <a:off x="10881360" y="3017520"/>
            <a:ext cx="685800" cy="685800"/>
          </a:xfrm>
          <a:prstGeom prst="ellipse">
            <a:avLst/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2236" y="3168396"/>
            <a:ext cx="384048" cy="38404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1795760" y="2971800"/>
            <a:ext cx="5577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1D1F"/>
                </a:solidFill>
                <a:latin typeface="Calibri"/>
              </a:rPr>
              <a:t>Strategy A fails.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It lost in both windows, even with perfect fills.</a:t>
            </a:r>
          </a:p>
        </p:txBody>
      </p:sp>
      <p:sp>
        <p:nvSpPr>
          <p:cNvPr id="151" name="Oval 150"/>
          <p:cNvSpPr/>
          <p:nvPr/>
        </p:nvSpPr>
        <p:spPr>
          <a:xfrm>
            <a:off x="10881360" y="4617720"/>
            <a:ext cx="685800" cy="68580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2236" y="4768596"/>
            <a:ext cx="384048" cy="38404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1795760" y="4572000"/>
            <a:ext cx="5577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1D1F"/>
                </a:solidFill>
                <a:latin typeface="Calibri"/>
              </a:rPr>
              <a:t>Strategy B holds up.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It made money in all 3 sealed tests: ₹12,990, ₹35,873 and ₹6,962.</a:t>
            </a:r>
          </a:p>
        </p:txBody>
      </p:sp>
      <p:sp>
        <p:nvSpPr>
          <p:cNvPr id="154" name="Oval 153"/>
          <p:cNvSpPr/>
          <p:nvPr/>
        </p:nvSpPr>
        <p:spPr>
          <a:xfrm>
            <a:off x="10881360" y="6217920"/>
            <a:ext cx="685800" cy="685800"/>
          </a:xfrm>
          <a:prstGeom prst="ellipse">
            <a:avLst/>
          </a:prstGeom>
          <a:solidFill>
            <a:srgbClr val="835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shiel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2236" y="6368796"/>
            <a:ext cx="384048" cy="384048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1795760" y="6172200"/>
            <a:ext cx="5577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1D1F"/>
                </a:solidFill>
                <a:latin typeface="Calibri"/>
              </a:rPr>
              <a:t>We say it plainly.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4A4A50"/>
                </a:solidFill>
                <a:latin typeface="Calibri"/>
              </a:rPr>
              <a:t>The edge is small, and trading costs decide it.</a:t>
            </a:r>
          </a:p>
        </p:txBody>
      </p:sp>
      <p:sp>
        <p:nvSpPr>
          <p:cNvPr id="157" name="Data"/>
          <p:cNvSpPr/>
          <p:nvPr/>
        </p:nvSpPr>
        <p:spPr>
          <a:xfrm>
            <a:off x="914400" y="8229600"/>
            <a:ext cx="16459200" cy="1554480"/>
          </a:xfrm>
          <a:prstGeom prst="roundRect">
            <a:avLst>
              <a:gd name="adj" fmla="val 5000"/>
            </a:avLst>
          </a:prstGeom>
          <a:solidFill>
            <a:srgbClr val="FB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280160" y="8339327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835A07"/>
                </a:solidFill>
                <a:latin typeface="Montserrat"/>
              </a:rPr>
              <a:t>710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80160" y="9125712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4A4A50"/>
                </a:solidFill>
                <a:latin typeface="Calibri"/>
              </a:rPr>
              <a:t>MCX contracts, 2003–2026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394960" y="8339327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835A07"/>
                </a:solidFill>
                <a:latin typeface="Montserrat"/>
              </a:rPr>
              <a:t>55,457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394960" y="9125712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4A4A50"/>
                </a:solidFill>
                <a:latin typeface="Calibri"/>
              </a:rPr>
              <a:t>daily rows checked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8339327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835A07"/>
                </a:solidFill>
                <a:latin typeface="Montserrat"/>
              </a:rP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509760" y="9125712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4A4A50"/>
                </a:solidFill>
                <a:latin typeface="Calibri"/>
              </a:rPr>
              <a:t>unexplained data errors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3624560" y="8339327"/>
            <a:ext cx="3840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835A07"/>
                </a:solidFill>
                <a:latin typeface="Montserrat"/>
              </a:rPr>
              <a:t>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624560" y="9125712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4A4A50"/>
                </a:solidFill>
                <a:latin typeface="Calibri"/>
              </a:rPr>
              <a:t>sealed tests, each run once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0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Thank you"/>
          <p:cNvSpPr txBox="1"/>
          <p:nvPr/>
        </p:nvSpPr>
        <p:spPr>
          <a:xfrm>
            <a:off x="914400" y="4343400"/>
            <a:ext cx="164592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0" b="1">
                <a:solidFill>
                  <a:srgbClr val="1D1D1F"/>
                </a:solidFill>
                <a:latin typeface="Caveat"/>
              </a:rPr>
              <a:t>Thank you!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14400" y="6812280"/>
            <a:ext cx="1645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835A07"/>
                </a:solidFill>
                <a:latin typeface="Montserrat"/>
              </a:rPr>
              <a:t>SYNTAX TERROR (TAN)</a:t>
            </a:r>
            <a:r>
              <a:rPr sz="2600" b="0">
                <a:solidFill>
                  <a:srgbClr val="4A4A50"/>
                </a:solidFill>
                <a:latin typeface="Montserrat"/>
              </a:rPr>
              <a:t>  ·  Parity, MCX gold futures intelligence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14400" y="7498079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4A4A50"/>
                </a:solidFill>
                <a:latin typeface="Calibri"/>
              </a:rPr>
              <a:t>Nikhil Kumar  ·  Sai Ganesh  ·  Ishaan Chhabra</a:t>
            </a:r>
          </a:p>
        </p:txBody>
      </p:sp>
      <p:pic>
        <p:nvPicPr>
          <p:cNvPr id="163" name="Live site QR" descr="qr-site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64840" y="7818120"/>
            <a:ext cx="1600200" cy="1600200"/>
          </a:xfrm>
          <a:prstGeom prst="rect">
            <a:avLst/>
          </a:prstGeom>
        </p:spPr>
      </p:pic>
      <p:sp>
        <p:nvSpPr>
          <p:cNvPr id="164" name="Live link">
            <a:hlinkClick r:id="rId7"/>
          </p:cNvPr>
          <p:cNvSpPr txBox="1"/>
          <p:nvPr/>
        </p:nvSpPr>
        <p:spPr>
          <a:xfrm>
            <a:off x="914400" y="8092440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4A4A50"/>
                </a:solidFill>
                <a:latin typeface="Calibri"/>
              </a:rPr>
              <a:t>Try it live: </a:t>
            </a:r>
            <a:r>
              <a:rPr sz="2400" b="1">
                <a:solidFill>
                  <a:srgbClr val="835A07"/>
                </a:solidFill>
                <a:latin typeface="Calibri"/>
              </a:rPr>
              <a:t>parity-gold-site.vercel.app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350240" y="95097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>
                <a:solidFill>
                  <a:srgbClr val="4A4A50"/>
                </a:solidFill>
                <a:latin typeface="Calibri"/>
              </a:rPr>
              <a:t>Scan for the live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