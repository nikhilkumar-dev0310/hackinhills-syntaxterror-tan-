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are SYNTAX TERROR (TAN). Our project, Parity, answers Problem 03 with a working prototype built on 710 official MCX gold contracts. It is live at parity-gold-site.vercel.app and updates itself every trading day.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MCX contracts hold the same metal but quote it four ways. Converted to rupees per gram of pure gold they nearly match. The gaps that remain are real money: the coin's steady premium, and a 2.7% gap during the 2026 crash.</a:t>
            </a:r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Parity is live at parity-gold-site.vercel.app and updates itself after every MCX trading day. It compares the four contracts fairly, raises an alert only when a contract strays far from its fair price, backtests every rule after real costs, and checks every trade against the contract calendar. What sets it apart: 23 years of MCX data, eight years sealed and tested once, a fair price built off GOLDM, and the exchange's own delivery rules. Tested once on eight unseen years, the fair-price rule made money in all three sealed tests, but the edge is small, and we say so.</a:t>
            </a:r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trading day a scheduled job fetches the new official MCX files. They are cleaned and checked, every analysis writes its results to a file, and one export feeds the live site, report and pitch.</a:t>
            </a:r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Gold futures on MCX trade about 28 thousand crore rupees a day, 3.4 times more than a year earlier. Market figures are from MCX data reported by Business Today and Business Standard; the revenue model is our plan.</a:t>
            </a:r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First, prove the rule live on paper. Then better data, alerts where traders already are, and the same method for silver.</a:t>
            </a:r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tested on eight years the rules had never seen. The simple pairs rule failed. The fair-price rule made money in all three sealed tests, but the edge is small and depends on trading costs, and we say so.</a:t>
            </a:r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hyperlink" Target="https://parity-gold-site.vercel.app" TargetMode="External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hyperlink" Target="https://parity-gold-site.vercel.app" TargetMode="Externa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hyperlink" Target="https://parity-gold-site.vercel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2.png"/><Relationship Id="rId6" Type="http://schemas.openxmlformats.org/officeDocument/2006/relationships/image" Target="../media/image15.png"/><Relationship Id="rId7" Type="http://schemas.openxmlformats.org/officeDocument/2006/relationships/image" Target="../media/image21.png"/><Relationship Id="rId8" Type="http://schemas.openxmlformats.org/officeDocument/2006/relationships/image" Target="../media/image33.png"/><Relationship Id="rId9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38.png"/><Relationship Id="rId7" Type="http://schemas.openxmlformats.org/officeDocument/2006/relationships/hyperlink" Target="https://parity-gold-site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itle"/>
          <p:cNvSpPr txBox="1"/>
          <p:nvPr/>
        </p:nvSpPr>
        <p:spPr>
          <a:xfrm>
            <a:off x="914400" y="4617720"/>
            <a:ext cx="7315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D1D1F"/>
                </a:solidFill>
                <a:latin typeface="Montserrat"/>
              </a:rPr>
              <a:t>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44068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TEAM NAME</a:t>
            </a:r>
          </a:p>
        </p:txBody>
      </p:sp>
      <p:sp>
        <p:nvSpPr>
          <p:cNvPr id="92" name="Team name"/>
          <p:cNvSpPr txBox="1"/>
          <p:nvPr/>
        </p:nvSpPr>
        <p:spPr>
          <a:xfrm>
            <a:off x="914400" y="580644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SYNTAX TERROR (TAN)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4400" y="66294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4A50"/>
                </a:solidFill>
                <a:latin typeface="Calibri"/>
              </a:rPr>
              <a:t>Project: </a:t>
            </a:r>
            <a:r>
              <a:rPr sz="2200" b="0">
                <a:solidFill>
                  <a:srgbClr val="4A4A50"/>
                </a:solidFill>
                <a:latin typeface="Calibri"/>
              </a:rPr>
              <a:t>Parity, MCX gold futures intelligence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4A4A50"/>
                </a:solidFill>
                <a:latin typeface="Calibri"/>
              </a:rPr>
              <a:t>Problem 03: </a:t>
            </a:r>
            <a:r>
              <a:rPr sz="2200" b="0">
                <a:solidFill>
                  <a:srgbClr val="4A4A50"/>
                </a:solidFill>
                <a:latin typeface="Calibri"/>
              </a:rPr>
              <a:t>Commodity Derivatives Intelligence</a:t>
            </a:r>
          </a:p>
        </p:txBody>
      </p:sp>
      <p:sp>
        <p:nvSpPr>
          <p:cNvPr id="94" name="Working prototype"/>
          <p:cNvSpPr/>
          <p:nvPr/>
        </p:nvSpPr>
        <p:spPr>
          <a:xfrm>
            <a:off x="914400" y="8001000"/>
            <a:ext cx="306324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992" y="8119872"/>
            <a:ext cx="402336" cy="40233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2768" y="800100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Working prototype</a:t>
            </a:r>
          </a:p>
        </p:txBody>
      </p:sp>
      <p:sp>
        <p:nvSpPr>
          <p:cNvPr id="97" name="710 contracts"/>
          <p:cNvSpPr/>
          <p:nvPr/>
        </p:nvSpPr>
        <p:spPr>
          <a:xfrm>
            <a:off x="4160520" y="8001000"/>
            <a:ext cx="242316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5112" y="8119872"/>
            <a:ext cx="402336" cy="402336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18888" y="8001000"/>
            <a:ext cx="16916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710 contracts</a:t>
            </a:r>
          </a:p>
        </p:txBody>
      </p:sp>
      <p:sp>
        <p:nvSpPr>
          <p:cNvPr id="100" name="3 sealed tests"/>
          <p:cNvSpPr/>
          <p:nvPr/>
        </p:nvSpPr>
        <p:spPr>
          <a:xfrm>
            <a:off x="6766560" y="800100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8119872"/>
            <a:ext cx="402336" cy="40233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424928" y="8001000"/>
            <a:ext cx="18287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3 sealed tests</a:t>
            </a:r>
          </a:p>
        </p:txBody>
      </p:sp>
      <p:sp>
        <p:nvSpPr>
          <p:cNvPr id="103" name="Live site pill"/>
          <p:cNvSpPr/>
          <p:nvPr/>
        </p:nvSpPr>
        <p:spPr>
          <a:xfrm>
            <a:off x="914400" y="8869680"/>
            <a:ext cx="7863840" cy="822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4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Live dot"/>
          <p:cNvSpPr/>
          <p:nvPr/>
        </p:nvSpPr>
        <p:spPr>
          <a:xfrm>
            <a:off x="1234440" y="9198864"/>
            <a:ext cx="164592" cy="164592"/>
          </a:xfrm>
          <a:prstGeom prst="ellipse">
            <a:avLst/>
          </a:prstGeom>
          <a:solidFill>
            <a:srgbClr val="14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Live site link">
            <a:hlinkClick r:id="rId9"/>
          </p:cNvPr>
          <p:cNvSpPr txBox="1"/>
          <p:nvPr/>
        </p:nvSpPr>
        <p:spPr>
          <a:xfrm>
            <a:off x="1554480" y="8869680"/>
            <a:ext cx="7132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7A52"/>
                </a:solidFill>
                <a:latin typeface="Montserrat"/>
              </a:rPr>
              <a:t>LIVE  </a:t>
            </a:r>
            <a:r>
              <a:rPr sz="22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700" b="0">
                <a:solidFill>
                  <a:srgbClr val="4A4A50"/>
                </a:solidFill>
                <a:latin typeface="Calibri"/>
              </a:rPr>
              <a:t>   updates every trading day</a:t>
            </a:r>
          </a:p>
        </p:txBody>
      </p:sp>
      <p:sp>
        <p:nvSpPr>
          <p:cNvPr id="106" name="Members card"/>
          <p:cNvSpPr/>
          <p:nvPr/>
        </p:nvSpPr>
        <p:spPr>
          <a:xfrm>
            <a:off x="9509760" y="4617720"/>
            <a:ext cx="78638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921240" y="4892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MEMBERS AND ROLES</a:t>
            </a:r>
          </a:p>
        </p:txBody>
      </p:sp>
      <p:sp>
        <p:nvSpPr>
          <p:cNvPr id="108" name="Oval 107"/>
          <p:cNvSpPr/>
          <p:nvPr/>
        </p:nvSpPr>
        <p:spPr>
          <a:xfrm>
            <a:off x="9921240" y="5486400"/>
            <a:ext cx="731520" cy="73152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targe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82174" y="5647334"/>
            <a:ext cx="409651" cy="409651"/>
          </a:xfrm>
          <a:prstGeom prst="rect">
            <a:avLst/>
          </a:prstGeom>
        </p:spPr>
      </p:pic>
      <p:sp>
        <p:nvSpPr>
          <p:cNvPr id="110" name="Member 1"/>
          <p:cNvSpPr txBox="1"/>
          <p:nvPr/>
        </p:nvSpPr>
        <p:spPr>
          <a:xfrm>
            <a:off x="10881360" y="544068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Nikhil Kumar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81360" y="591616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Team lead · data pipeline, strategy research and backtests, dashboard</a:t>
            </a:r>
          </a:p>
        </p:txBody>
      </p:sp>
      <p:sp>
        <p:nvSpPr>
          <p:cNvPr id="112" name="Oval 111"/>
          <p:cNvSpPr/>
          <p:nvPr/>
        </p:nvSpPr>
        <p:spPr>
          <a:xfrm>
            <a:off x="9921240" y="6858000"/>
            <a:ext cx="731520" cy="73152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82174" y="7018934"/>
            <a:ext cx="409651" cy="409651"/>
          </a:xfrm>
          <a:prstGeom prst="rect">
            <a:avLst/>
          </a:prstGeom>
        </p:spPr>
      </p:pic>
      <p:sp>
        <p:nvSpPr>
          <p:cNvPr id="114" name="Member 2"/>
          <p:cNvSpPr txBox="1"/>
          <p:nvPr/>
        </p:nvSpPr>
        <p:spPr>
          <a:xfrm>
            <a:off x="10881360" y="681228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Sai Ganesh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81360" y="728776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Market research and pitch presentation</a:t>
            </a:r>
          </a:p>
        </p:txBody>
      </p:sp>
      <p:sp>
        <p:nvSpPr>
          <p:cNvPr id="116" name="Oval 115"/>
          <p:cNvSpPr/>
          <p:nvPr/>
        </p:nvSpPr>
        <p:spPr>
          <a:xfrm>
            <a:off x="9921240" y="8229600"/>
            <a:ext cx="731520" cy="73152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82174" y="8390534"/>
            <a:ext cx="409651" cy="409651"/>
          </a:xfrm>
          <a:prstGeom prst="rect">
            <a:avLst/>
          </a:prstGeom>
        </p:spPr>
      </p:pic>
      <p:sp>
        <p:nvSpPr>
          <p:cNvPr id="118" name="Member 3"/>
          <p:cNvSpPr txBox="1"/>
          <p:nvPr/>
        </p:nvSpPr>
        <p:spPr>
          <a:xfrm>
            <a:off x="10881360" y="8183879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Ishaan Chhabra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881360" y="8659367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Testing, data checks and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PROBLEM STATEMENT &amp; THEME</a:t>
            </a:r>
          </a:p>
        </p:txBody>
      </p:sp>
      <p:sp>
        <p:nvSpPr>
          <p:cNvPr id="100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One metal, four prices. Which one is fair?</a:t>
            </a:r>
          </a:p>
        </p:txBody>
      </p:sp>
      <p:sp>
        <p:nvSpPr>
          <p:cNvPr id="101" name="Contract GOLDM"/>
          <p:cNvSpPr/>
          <p:nvPr/>
        </p:nvSpPr>
        <p:spPr>
          <a:xfrm>
            <a:off x="91440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8872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872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100 g bar · 99.5% pure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8872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₹1,48,911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10 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8872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325880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₹14,966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07" name="Contract GOLDTEN"/>
          <p:cNvSpPr/>
          <p:nvPr/>
        </p:nvSpPr>
        <p:spPr>
          <a:xfrm>
            <a:off x="507492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4924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GOLDTEN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4924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10 g bar · 99.9% pure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4924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₹1,49,288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10 g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34924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86400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₹14,944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13" name="Contract GOLDGUINEA"/>
          <p:cNvSpPr/>
          <p:nvPr/>
        </p:nvSpPr>
        <p:spPr>
          <a:xfrm>
            <a:off x="923544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6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GOLDGUINEA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50976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8 g coin · 99.9% pure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0976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₹1,19,957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8 g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50976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646919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₹15,010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19" name="Contract GOLDPETAL"/>
          <p:cNvSpPr/>
          <p:nvPr/>
        </p:nvSpPr>
        <p:spPr>
          <a:xfrm>
            <a:off x="13395959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367028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GOLDPETAL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67028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 g · 99.9% pure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67028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₹14,992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 g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67028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807439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₹15,007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58064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4A4A50"/>
                </a:solidFill>
                <a:latin typeface="Calibri"/>
              </a:rPr>
              <a:t>Main contract of each type, MCX closing prices, 6 October 2026, as on the live site. Different quotes, nearly the same gold price.</a:t>
            </a:r>
          </a:p>
        </p:txBody>
      </p:sp>
      <p:sp>
        <p:nvSpPr>
          <p:cNvPr id="126" name="Problem"/>
          <p:cNvSpPr/>
          <p:nvPr/>
        </p:nvSpPr>
        <p:spPr>
          <a:xfrm>
            <a:off x="914400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88720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60" y="6728520"/>
            <a:ext cx="368686" cy="368686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2011680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PROBLEM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88720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Quotes differ by size and purity, so they cannot be compared at a glance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Is a price gap real, or just a unit mix-up?</a:t>
            </a:r>
          </a:p>
        </p:txBody>
      </p:sp>
      <p:sp>
        <p:nvSpPr>
          <p:cNvPr id="131" name="Impact"/>
          <p:cNvSpPr/>
          <p:nvPr/>
        </p:nvSpPr>
        <p:spPr>
          <a:xfrm>
            <a:off x="6464808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739128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activit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968" y="6728520"/>
            <a:ext cx="368686" cy="368686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562088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IMPACT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739128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The 8 g coin costs 0.6–0.7% more per gram, in all 41 contract months since late 2023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In the 2026 gold crash, small contracts sat 2.7% above GOLDM</a:t>
            </a:r>
          </a:p>
        </p:txBody>
      </p:sp>
      <p:sp>
        <p:nvSpPr>
          <p:cNvPr id="136" name="Theme alignment"/>
          <p:cNvSpPr/>
          <p:nvPr/>
        </p:nvSpPr>
        <p:spPr>
          <a:xfrm>
            <a:off x="12015216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289536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targ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34376" y="6728520"/>
            <a:ext cx="368686" cy="368686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13112496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THEME ALIGNMENT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89536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Problem 03: Commodity Derivatives Intelligence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Covers fair value, futures curve, backtest, alerts and contract calendar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SOLUTION</a:t>
            </a:r>
          </a:p>
        </p:txBody>
      </p:sp>
      <p:sp>
        <p:nvSpPr>
          <p:cNvPr id="109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Parity tells a trader when a price gap is real</a:t>
            </a:r>
          </a:p>
        </p:txBody>
      </p:sp>
      <p:pic>
        <p:nvPicPr>
          <p:cNvPr id="110" name="Live site screenshot" descr="dash-live-v4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97480"/>
            <a:ext cx="9326880" cy="4834433"/>
          </a:xfrm>
          <a:prstGeom prst="rect">
            <a:avLst/>
          </a:prstGeom>
        </p:spPr>
      </p:pic>
      <p:sp>
        <p:nvSpPr>
          <p:cNvPr id="111" name="Live badge"/>
          <p:cNvSpPr/>
          <p:nvPr/>
        </p:nvSpPr>
        <p:spPr>
          <a:xfrm>
            <a:off x="914400" y="7699248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14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14400" y="7699248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LIVE · UPDATES DAILY</a:t>
            </a:r>
          </a:p>
        </p:txBody>
      </p:sp>
      <p:sp>
        <p:nvSpPr>
          <p:cNvPr id="113" name="Live link">
            <a:hlinkClick r:id="rId5"/>
          </p:cNvPr>
          <p:cNvSpPr txBox="1"/>
          <p:nvPr/>
        </p:nvSpPr>
        <p:spPr>
          <a:xfrm>
            <a:off x="4069080" y="7699248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700" b="0">
                <a:solidFill>
                  <a:srgbClr val="4A4A50"/>
                </a:solidFill>
                <a:latin typeface="Calibri"/>
              </a:rPr>
              <a:t>   open it now, any browser</a:t>
            </a:r>
          </a:p>
        </p:txBody>
      </p:sp>
      <p:sp>
        <p:nvSpPr>
          <p:cNvPr id="114" name="Result"/>
          <p:cNvSpPr/>
          <p:nvPr/>
        </p:nvSpPr>
        <p:spPr>
          <a:xfrm>
            <a:off x="914400" y="8458200"/>
            <a:ext cx="9326880" cy="128016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88720" y="8686800"/>
            <a:ext cx="731520" cy="73152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9654" y="8847734"/>
            <a:ext cx="409651" cy="409651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2148840" y="8531352"/>
            <a:ext cx="7909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TESTED ONCE ON 8 YEARS IT NEVER SAW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D1D1F"/>
                </a:solidFill>
                <a:latin typeface="Calibri"/>
              </a:rPr>
              <a:t>The fair-price rule made money in all 3 sealed tests, after every cost. The edge is small, and we say so.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744200" y="278892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WHAT IT DOES</a:t>
            </a:r>
          </a:p>
        </p:txBody>
      </p:sp>
      <p:sp>
        <p:nvSpPr>
          <p:cNvPr id="119" name="Oval 118"/>
          <p:cNvSpPr/>
          <p:nvPr/>
        </p:nvSpPr>
        <p:spPr>
          <a:xfrm>
            <a:off x="10744200" y="324612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8924" y="3370844"/>
            <a:ext cx="317479" cy="317479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1521440" y="3246120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Fair comparison</a:t>
            </a:r>
            <a:r>
              <a:rPr sz="1800" b="0">
                <a:solidFill>
                  <a:srgbClr val="4A4A50"/>
                </a:solidFill>
                <a:latin typeface="Calibri"/>
              </a:rPr>
              <a:t>  all four in ₹ per pure gram</a:t>
            </a:r>
          </a:p>
        </p:txBody>
      </p:sp>
      <p:sp>
        <p:nvSpPr>
          <p:cNvPr id="122" name="Oval 121"/>
          <p:cNvSpPr/>
          <p:nvPr/>
        </p:nvSpPr>
        <p:spPr>
          <a:xfrm>
            <a:off x="10744200" y="3959352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bell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8924" y="4084076"/>
            <a:ext cx="317479" cy="3174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1521440" y="3959352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Quiet alerts</a:t>
            </a:r>
            <a:r>
              <a:rPr sz="1800" b="0">
                <a:solidFill>
                  <a:srgbClr val="4A4A50"/>
                </a:solidFill>
                <a:latin typeface="Calibri"/>
              </a:rPr>
              <a:t>  only when a price strays far from fair</a:t>
            </a:r>
          </a:p>
        </p:txBody>
      </p:sp>
      <p:sp>
        <p:nvSpPr>
          <p:cNvPr id="125" name="Oval 124"/>
          <p:cNvSpPr/>
          <p:nvPr/>
        </p:nvSpPr>
        <p:spPr>
          <a:xfrm>
            <a:off x="10744200" y="4672583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8924" y="4797308"/>
            <a:ext cx="317479" cy="317479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11521440" y="4672583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Honest backtests</a:t>
            </a:r>
            <a:r>
              <a:rPr sz="1800" b="0">
                <a:solidFill>
                  <a:srgbClr val="4A4A50"/>
                </a:solidFill>
                <a:latin typeface="Calibri"/>
              </a:rPr>
              <a:t>  after every fee, tax and slippage</a:t>
            </a:r>
          </a:p>
        </p:txBody>
      </p:sp>
      <p:sp>
        <p:nvSpPr>
          <p:cNvPr id="128" name="Oval 127"/>
          <p:cNvSpPr/>
          <p:nvPr/>
        </p:nvSpPr>
        <p:spPr>
          <a:xfrm>
            <a:off x="10744200" y="5385816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calendar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8924" y="5510540"/>
            <a:ext cx="317479" cy="317479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1521440" y="5385816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Contract calendar</a:t>
            </a:r>
            <a:r>
              <a:rPr sz="1800" b="0">
                <a:solidFill>
                  <a:srgbClr val="4A4A50"/>
                </a:solidFill>
                <a:latin typeface="Calibri"/>
              </a:rPr>
              <a:t>  every trade vs delivery dates</a:t>
            </a:r>
          </a:p>
        </p:txBody>
      </p:sp>
      <p:sp>
        <p:nvSpPr>
          <p:cNvPr id="131" name="Why Parity"/>
          <p:cNvSpPr/>
          <p:nvPr/>
        </p:nvSpPr>
        <p:spPr>
          <a:xfrm>
            <a:off x="10744200" y="6263640"/>
            <a:ext cx="662940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18520" y="6419088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WHY PARITY, NOT A SNAPSHOT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018520" y="685800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567160" y="6858000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23 years of MCX data, updated daily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710 contracts since 2003; each new day fetched and checked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18520" y="7562088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567160" y="7562088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8 sealed years, tested once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rules frozen in Git before the data was opened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018520" y="8266175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567160" y="8266175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Fair price off GOLDM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the contract with 20–60× the volume, not thin pairs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18520" y="8970264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567160" y="8970264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MCX's own rules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every trade checked against the delivery period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ARCHITECTURE</a:t>
            </a:r>
          </a:p>
        </p:txBody>
      </p:sp>
      <p:sp>
        <p:nvSpPr>
          <p:cNvPr id="118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From exchange files to a trader's screen</a:t>
            </a:r>
          </a:p>
        </p:txBody>
      </p:sp>
      <p:sp>
        <p:nvSpPr>
          <p:cNvPr id="119" name="Flow 1"/>
          <p:cNvSpPr/>
          <p:nvPr/>
        </p:nvSpPr>
        <p:spPr>
          <a:xfrm>
            <a:off x="914400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43000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" y="3241548"/>
            <a:ext cx="384048" cy="38404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143000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MCX files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43000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Official Bhavcopy, fetched every trading day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858768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Flow 2"/>
          <p:cNvSpPr/>
          <p:nvPr/>
        </p:nvSpPr>
        <p:spPr>
          <a:xfrm>
            <a:off x="4306824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535424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3241548"/>
            <a:ext cx="384048" cy="38404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4535424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Clean &amp; check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35424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Duplicates out, every row checked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7251192" y="4133087"/>
            <a:ext cx="393191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low 3"/>
          <p:cNvSpPr/>
          <p:nvPr/>
        </p:nvSpPr>
        <p:spPr>
          <a:xfrm>
            <a:off x="7699248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27848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cpu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8723" y="3241548"/>
            <a:ext cx="384048" cy="384048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927848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Analyse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27848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Fair value, curve, backtests, alerts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10643616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low 4"/>
          <p:cNvSpPr/>
          <p:nvPr/>
        </p:nvSpPr>
        <p:spPr>
          <a:xfrm>
            <a:off x="11091672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320272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fi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1147" y="3241548"/>
            <a:ext cx="384048" cy="38404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1320272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Results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320272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Every number saved to a file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4036040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low 5"/>
          <p:cNvSpPr/>
          <p:nvPr/>
        </p:nvSpPr>
        <p:spPr>
          <a:xfrm>
            <a:off x="14484096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4712696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lay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63572" y="3241548"/>
            <a:ext cx="384048" cy="384048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4712696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Export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712696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One data file feeds every output</a:t>
            </a:r>
          </a:p>
        </p:txBody>
      </p:sp>
      <p:sp>
        <p:nvSpPr>
          <p:cNvPr id="148" name="Output 1"/>
          <p:cNvSpPr/>
          <p:nvPr/>
        </p:nvSpPr>
        <p:spPr>
          <a:xfrm>
            <a:off x="914400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3000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moni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3992" y="6068872"/>
            <a:ext cx="435254" cy="435254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2103120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Live site  </a:t>
            </a:r>
            <a:r>
              <a:rPr sz="1900" b="0">
                <a:solidFill>
                  <a:srgbClr val="4A4A50"/>
                </a:solidFill>
                <a:latin typeface="Calibri"/>
              </a:rPr>
              <a:t>updates itself daily</a:t>
            </a:r>
          </a:p>
        </p:txBody>
      </p:sp>
      <p:sp>
        <p:nvSpPr>
          <p:cNvPr id="152" name="Output 2"/>
          <p:cNvSpPr/>
          <p:nvPr/>
        </p:nvSpPr>
        <p:spPr>
          <a:xfrm>
            <a:off x="6464808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693408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repo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400" y="6068872"/>
            <a:ext cx="435254" cy="435254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7653528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Report  </a:t>
            </a:r>
            <a:r>
              <a:rPr sz="1900" b="0">
                <a:solidFill>
                  <a:srgbClr val="4A4A50"/>
                </a:solidFill>
                <a:latin typeface="Calibri"/>
              </a:rPr>
              <a:t>17-page PDF</a:t>
            </a:r>
          </a:p>
        </p:txBody>
      </p:sp>
      <p:sp>
        <p:nvSpPr>
          <p:cNvPr id="156" name="Output 3"/>
          <p:cNvSpPr/>
          <p:nvPr/>
        </p:nvSpPr>
        <p:spPr>
          <a:xfrm>
            <a:off x="12015216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243816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pla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4808" y="6068872"/>
            <a:ext cx="435254" cy="43525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3203936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Pitch  </a:t>
            </a:r>
            <a:r>
              <a:rPr sz="1900" b="0">
                <a:solidFill>
                  <a:srgbClr val="4A4A50"/>
                </a:solidFill>
                <a:latin typeface="Calibri"/>
              </a:rPr>
              <a:t>interactive story</a:t>
            </a:r>
          </a:p>
        </p:txBody>
      </p:sp>
      <p:sp>
        <p:nvSpPr>
          <p:cNvPr id="160" name="Oval 159"/>
          <p:cNvSpPr/>
          <p:nvPr/>
        </p:nvSpPr>
        <p:spPr>
          <a:xfrm>
            <a:off x="914400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cod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9124" y="7302764"/>
            <a:ext cx="317479" cy="317479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1645920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TECH STACK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14400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Python, pandas, NumPy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React 19 built with esbuild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ReportLab and Matplotlib</a:t>
            </a:r>
          </a:p>
        </p:txBody>
      </p:sp>
      <p:sp>
        <p:nvSpPr>
          <p:cNvPr id="164" name="Oval 163"/>
          <p:cNvSpPr/>
          <p:nvPr/>
        </p:nvSpPr>
        <p:spPr>
          <a:xfrm>
            <a:off x="6464808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Picture 164" descr="git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9532" y="7302764"/>
            <a:ext cx="317479" cy="317479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7196328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HOW WE KEEP IT HONEST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64808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Rules time-stamped in Git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Sealed years kept in a separate file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10 automated tests</a:t>
            </a:r>
          </a:p>
        </p:txBody>
      </p:sp>
      <p:sp>
        <p:nvSpPr>
          <p:cNvPr id="168" name="Oval 167"/>
          <p:cNvSpPr/>
          <p:nvPr/>
        </p:nvSpPr>
        <p:spPr>
          <a:xfrm>
            <a:off x="12015216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globe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39940" y="7302764"/>
            <a:ext cx="317479" cy="317479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12746736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APIS USED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015216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No paid APIs, no keys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MCX's public Bhavcopy page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Scheduled daily job (GitHub Actions)</a:t>
            </a:r>
          </a:p>
        </p:txBody>
      </p:sp>
      <p:sp>
        <p:nvSpPr>
          <p:cNvPr id="172" name="TextBox 171">
            <a:hlinkClick r:id="rId15"/>
          </p:cNvPr>
          <p:cNvSpPr txBox="1"/>
          <p:nvPr/>
        </p:nvSpPr>
        <p:spPr>
          <a:xfrm>
            <a:off x="914400" y="964692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Live: </a:t>
            </a:r>
            <a:r>
              <a:rPr sz="16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600" b="0">
                <a:solidFill>
                  <a:srgbClr val="4A4A50"/>
                </a:solidFill>
                <a:latin typeface="Calibri"/>
              </a:rPr>
              <a:t>     Code: github.com/nikhilkumar-dev0310/HACKINHILLS-SYNTAXTERROR-TAN-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MARKET RESEARCH / ANALYSIS</a:t>
            </a:r>
          </a:p>
        </p:txBody>
      </p:sp>
      <p:sp>
        <p:nvSpPr>
          <p:cNvPr id="127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Gold futures in India: big, and growing fast</a:t>
            </a:r>
          </a:p>
        </p:txBody>
      </p:sp>
      <p:sp>
        <p:nvSpPr>
          <p:cNvPr id="128" name="Stat 1"/>
          <p:cNvSpPr/>
          <p:nvPr/>
        </p:nvSpPr>
        <p:spPr>
          <a:xfrm>
            <a:off x="914400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234440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₹28,484 cr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234440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traded every day in MCX gold futures, FY2025-26</a:t>
            </a:r>
          </a:p>
        </p:txBody>
      </p:sp>
      <p:sp>
        <p:nvSpPr>
          <p:cNvPr id="131" name="Stat 2"/>
          <p:cNvSpPr/>
          <p:nvPr/>
        </p:nvSpPr>
        <p:spPr>
          <a:xfrm>
            <a:off x="6464808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784848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3.4×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784848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growth in one year (₹8,449 cr a day in FY2024-25)</a:t>
            </a:r>
          </a:p>
        </p:txBody>
      </p:sp>
      <p:sp>
        <p:nvSpPr>
          <p:cNvPr id="134" name="Stat 3"/>
          <p:cNvSpPr/>
          <p:nvPr/>
        </p:nvSpPr>
        <p:spPr>
          <a:xfrm>
            <a:off x="12015216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335256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57%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335256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of all MCX trading is bullion, Q2 FY26 (44% a year earlier)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230368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Sources: Business Today, 14 Aug 2026 (MCX data for FY2025-26); Business Standard, 7 Nov 2025 (MCX Q2 FY26 results).</a:t>
            </a:r>
          </a:p>
        </p:txBody>
      </p:sp>
      <p:sp>
        <p:nvSpPr>
          <p:cNvPr id="138" name="Oval 137"/>
          <p:cNvSpPr/>
          <p:nvPr/>
        </p:nvSpPr>
        <p:spPr>
          <a:xfrm>
            <a:off x="914400" y="580644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240" y="5951280"/>
            <a:ext cx="368686" cy="368686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783080" y="580644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TARGET USERS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783080" y="6537959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Traders choosing which gold contract to trade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Arbitrage desks, jewellers hedging, broker research teams</a:t>
            </a:r>
          </a:p>
        </p:txBody>
      </p:sp>
      <p:sp>
        <p:nvSpPr>
          <p:cNvPr id="142" name="Oval 141"/>
          <p:cNvSpPr/>
          <p:nvPr/>
        </p:nvSpPr>
        <p:spPr>
          <a:xfrm>
            <a:off x="9281160" y="580644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000" y="5951280"/>
            <a:ext cx="368686" cy="368686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10149840" y="580644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MARKET SIZE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149840" y="6537959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MCX trades ₹4.11 lakh crore a day across all contracts (Q2 FY26)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Gold comes in 1 kg, 100 g, 10 g, 8 g and 1 g lots</a:t>
            </a:r>
          </a:p>
        </p:txBody>
      </p:sp>
      <p:sp>
        <p:nvSpPr>
          <p:cNvPr id="146" name="Oval 145"/>
          <p:cNvSpPr/>
          <p:nvPr/>
        </p:nvSpPr>
        <p:spPr>
          <a:xfrm>
            <a:off x="914400" y="781812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wall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240" y="7962960"/>
            <a:ext cx="368686" cy="368686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1783080" y="781812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REVENUE MODEL (OUR PLAN)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783080" y="854964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Free dashboard; paid alerts by email or Telegram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Licence for broker research desks, and a data feed</a:t>
            </a:r>
          </a:p>
        </p:txBody>
      </p:sp>
      <p:sp>
        <p:nvSpPr>
          <p:cNvPr id="150" name="Oval 149"/>
          <p:cNvSpPr/>
          <p:nvPr/>
        </p:nvSpPr>
        <p:spPr>
          <a:xfrm>
            <a:off x="9281160" y="781812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tr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6000" y="7962960"/>
            <a:ext cx="368686" cy="368686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0149840" y="781812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EXPECTED GROWTH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49840" y="854964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Small lots (10 g, 1 g) are bringing in new traders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Same method extends to silver: SILVERM, SILVERMIC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FUTURE SCOPE</a:t>
            </a:r>
          </a:p>
        </p:txBody>
      </p:sp>
      <p:sp>
        <p:nvSpPr>
          <p:cNvPr id="136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What comes next</a:t>
            </a:r>
          </a:p>
        </p:txBody>
      </p:sp>
      <p:sp>
        <p:nvSpPr>
          <p:cNvPr id="137" name="Live paper trading"/>
          <p:cNvSpPr/>
          <p:nvPr/>
        </p:nvSpPr>
        <p:spPr>
          <a:xfrm>
            <a:off x="914400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234440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activit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491" y="3381451"/>
            <a:ext cx="460857" cy="46085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5120640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234440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Live paper trading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234440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site already updates itself daily; next, a day-by-day paper record of the fair-price rule</a:t>
            </a:r>
          </a:p>
        </p:txBody>
      </p:sp>
      <p:sp>
        <p:nvSpPr>
          <p:cNvPr id="143" name="Intraday prices"/>
          <p:cNvSpPr/>
          <p:nvPr/>
        </p:nvSpPr>
        <p:spPr>
          <a:xfrm>
            <a:off x="6464808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784848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5899" y="3381451"/>
            <a:ext cx="460857" cy="460857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0671048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84848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Intraday prices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784848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Measure real trading costs instead of assuming them</a:t>
            </a:r>
          </a:p>
        </p:txBody>
      </p:sp>
      <p:sp>
        <p:nvSpPr>
          <p:cNvPr id="149" name="Alerts on your phone"/>
          <p:cNvSpPr/>
          <p:nvPr/>
        </p:nvSpPr>
        <p:spPr>
          <a:xfrm>
            <a:off x="12015216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2335256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bel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6307" y="3381451"/>
            <a:ext cx="460857" cy="460857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6221456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335256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Alerts on your phone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2335256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Email and Telegram alerts that show the cost of acting</a:t>
            </a:r>
          </a:p>
        </p:txBody>
      </p:sp>
      <p:sp>
        <p:nvSpPr>
          <p:cNvPr id="155" name="Longer history"/>
          <p:cNvSpPr/>
          <p:nvPr/>
        </p:nvSpPr>
        <p:spPr>
          <a:xfrm>
            <a:off x="914400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234440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lay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5491" y="6856171"/>
            <a:ext cx="460857" cy="46085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5120640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34440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Longer history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234440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Measure the coin and 1 g premiums back to 2008</a:t>
            </a:r>
          </a:p>
        </p:txBody>
      </p:sp>
      <p:sp>
        <p:nvSpPr>
          <p:cNvPr id="161" name="Safer rules"/>
          <p:cNvSpPr/>
          <p:nvPr/>
        </p:nvSpPr>
        <p:spPr>
          <a:xfrm>
            <a:off x="6464808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784848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5899" y="6856171"/>
            <a:ext cx="460857" cy="460857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0671048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784848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Safer rules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784848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Skip days stuck at the price limit; cross-check with spot gold rates</a:t>
            </a:r>
          </a:p>
        </p:txBody>
      </p:sp>
      <p:sp>
        <p:nvSpPr>
          <p:cNvPr id="167" name="More metals"/>
          <p:cNvSpPr/>
          <p:nvPr/>
        </p:nvSpPr>
        <p:spPr>
          <a:xfrm>
            <a:off x="12015216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2335256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coin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16307" y="6856171"/>
            <a:ext cx="460857" cy="460857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16221456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335256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More metals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2335256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same method for silver and other multi-size contracts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EXTRA: RESULTS</a:t>
            </a:r>
          </a:p>
        </p:txBody>
      </p:sp>
      <p:sp>
        <p:nvSpPr>
          <p:cNvPr id="145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Tested on 8 years it had never seen</a:t>
            </a:r>
          </a:p>
        </p:txBody>
      </p:sp>
      <p:pic>
        <p:nvPicPr>
          <p:cNvPr id="146" name="Sealed tests chart" descr="deck_sea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788920"/>
            <a:ext cx="9509760" cy="493776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4400" y="777240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Net profit after all costs, 5 bp slippage. Each window run once, with rules frozen first.</a:t>
            </a:r>
          </a:p>
        </p:txBody>
      </p:sp>
      <p:sp>
        <p:nvSpPr>
          <p:cNvPr id="148" name="Oval 147"/>
          <p:cNvSpPr/>
          <p:nvPr/>
        </p:nvSpPr>
        <p:spPr>
          <a:xfrm>
            <a:off x="10881360" y="3017520"/>
            <a:ext cx="685800" cy="68580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2236" y="3168396"/>
            <a:ext cx="384048" cy="38404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1795760" y="29718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Strategy A fails.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It lost in both windows, even with perfect fills.</a:t>
            </a:r>
          </a:p>
        </p:txBody>
      </p:sp>
      <p:sp>
        <p:nvSpPr>
          <p:cNvPr id="151" name="Oval 150"/>
          <p:cNvSpPr/>
          <p:nvPr/>
        </p:nvSpPr>
        <p:spPr>
          <a:xfrm>
            <a:off x="10881360" y="4617720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2236" y="4768596"/>
            <a:ext cx="384048" cy="38404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11795760" y="45720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Strategy B holds up.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It made money in all 3 sealed tests: ₹12,990, ₹35,873 and ₹6,962.</a:t>
            </a:r>
          </a:p>
        </p:txBody>
      </p:sp>
      <p:sp>
        <p:nvSpPr>
          <p:cNvPr id="154" name="Oval 153"/>
          <p:cNvSpPr/>
          <p:nvPr/>
        </p:nvSpPr>
        <p:spPr>
          <a:xfrm>
            <a:off x="10881360" y="6217920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shiel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2236" y="6368796"/>
            <a:ext cx="384048" cy="3840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1795760" y="61722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We say it plainly.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edge is small, and trading costs decide it.</a:t>
            </a:r>
          </a:p>
        </p:txBody>
      </p:sp>
      <p:sp>
        <p:nvSpPr>
          <p:cNvPr id="157" name="Data"/>
          <p:cNvSpPr/>
          <p:nvPr/>
        </p:nvSpPr>
        <p:spPr>
          <a:xfrm>
            <a:off x="914400" y="8229600"/>
            <a:ext cx="16459200" cy="155448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2801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710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801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MCX contracts, 2003–2026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3949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55,457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3949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daily rows checked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5097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unexplained data errors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6245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6245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sealed tests, each run once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Thank you"/>
          <p:cNvSpPr txBox="1"/>
          <p:nvPr/>
        </p:nvSpPr>
        <p:spPr>
          <a:xfrm>
            <a:off x="914400" y="4343400"/>
            <a:ext cx="164592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0" b="1">
                <a:solidFill>
                  <a:srgbClr val="1D1D1F"/>
                </a:solidFill>
                <a:latin typeface="Caveat"/>
              </a:rPr>
              <a:t>Thank you!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4400" y="6812280"/>
            <a:ext cx="1645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835A07"/>
                </a:solidFill>
                <a:latin typeface="Montserrat"/>
              </a:rPr>
              <a:t>SYNTAX TERROR (TAN)</a:t>
            </a:r>
            <a:r>
              <a:rPr sz="2600" b="0">
                <a:solidFill>
                  <a:srgbClr val="4A4A50"/>
                </a:solidFill>
                <a:latin typeface="Montserrat"/>
              </a:rPr>
              <a:t>  ·  Parity, MCX gold futures intelligence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14400" y="7498079"/>
            <a:ext cx="1645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4A4A50"/>
                </a:solidFill>
                <a:latin typeface="Calibri"/>
              </a:rPr>
              <a:t>Nikhil Kumar  ·  Sai Ganesh  ·  Ishaan Chhabra</a:t>
            </a:r>
          </a:p>
        </p:txBody>
      </p:sp>
      <p:pic>
        <p:nvPicPr>
          <p:cNvPr id="163" name="Live site QR" descr="qr-sit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64840" y="7818120"/>
            <a:ext cx="1600200" cy="1600200"/>
          </a:xfrm>
          <a:prstGeom prst="rect">
            <a:avLst/>
          </a:prstGeom>
        </p:spPr>
      </p:pic>
      <p:sp>
        <p:nvSpPr>
          <p:cNvPr id="164" name="Live link">
            <a:hlinkClick r:id="rId7"/>
          </p:cNvPr>
          <p:cNvSpPr txBox="1"/>
          <p:nvPr/>
        </p:nvSpPr>
        <p:spPr>
          <a:xfrm>
            <a:off x="914400" y="8092440"/>
            <a:ext cx="1645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4A4A50"/>
                </a:solidFill>
                <a:latin typeface="Calibri"/>
              </a:rPr>
              <a:t>Try it live: </a:t>
            </a:r>
            <a:r>
              <a:rPr sz="24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2000" b="0">
                <a:solidFill>
                  <a:srgbClr val="4A4A50"/>
                </a:solidFill>
                <a:latin typeface="Calibri"/>
              </a:rPr>
              <a:t>  ·  updates every trading day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350240" y="9509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Scan for the live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