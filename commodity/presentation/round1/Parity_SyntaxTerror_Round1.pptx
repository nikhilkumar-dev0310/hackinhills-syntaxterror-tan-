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 SyntaxTerror, project Parity, for Problem 03. Replace the red placeholders with each member's name and role before submitting.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contracts, one metal. Converted to rupees per gram of pure gold, they nearly match, and the gaps that remain are what Parity studies.</a:t>
            </a:r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Parity answers three questions: do the four agree, can a gap be traded after costs, and is today worth a look. Its edge over a typical backtest is honesty: rules locked first, sealed tests run once.</a:t>
            </a:r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pipeline: official MCX files in, validated and converted, every analysis writes a CSV, and one export feeds the dashboard, report and pitch.</a:t>
            </a:r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Market figures are from MCX data reported in Business Today (Aug 2026) and Business Standard (Nov 2025). The revenue model is our plan, not a measured result.</a:t>
            </a:r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First, prove it live on paper. Then better data, alerts where traders already are, and the same method for silver.</a:t>
            </a:r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honest answer: a small, positive, unproven edge whose size is decided by execution. Strategy A failed; Strategy B held up modestly.</a:t>
            </a:r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itle"/>
          <p:cNvSpPr txBox="1"/>
          <p:nvPr/>
        </p:nvSpPr>
        <p:spPr>
          <a:xfrm>
            <a:off x="914400" y="47091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D1D1F"/>
                </a:solidFill>
                <a:latin typeface="Montserrat"/>
              </a:rPr>
              <a:t>TEAM</a:t>
            </a:r>
          </a:p>
        </p:txBody>
      </p:sp>
      <p:sp>
        <p:nvSpPr>
          <p:cNvPr id="91" name="Team name"/>
          <p:cNvSpPr txBox="1"/>
          <p:nvPr/>
        </p:nvSpPr>
        <p:spPr>
          <a:xfrm>
            <a:off x="914400" y="5486400"/>
            <a:ext cx="74980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835A07"/>
                </a:solidFill>
                <a:latin typeface="Calibri"/>
              </a:rPr>
              <a:t>Team name</a:t>
            </a:r>
          </a:p>
          <a:p>
            <a:pPr algn="l"/>
            <a:r>
              <a:rPr sz="3400" b="1" i="0">
                <a:solidFill>
                  <a:srgbClr val="1D1D1F"/>
                </a:solidFill>
                <a:latin typeface="Montserrat"/>
              </a:rPr>
              <a:t>SyntaxTerror</a:t>
            </a:r>
          </a:p>
          <a:p>
            <a:pPr algn="l"/>
            <a:r>
              <a:rPr sz="2000" b="0" i="0">
                <a:solidFill>
                  <a:srgbClr val="55555A"/>
                </a:solidFill>
                <a:latin typeface="Calibri"/>
              </a:rPr>
              <a:t>Project: Parity · MCX gold futures intelligence</a:t>
            </a:r>
          </a:p>
          <a:p>
            <a:pPr algn="l"/>
            <a:r>
              <a:rPr sz="2000" b="0" i="0">
                <a:solidFill>
                  <a:srgbClr val="55555A"/>
                </a:solidFill>
                <a:latin typeface="Calibri"/>
              </a:rPr>
              <a:t>Problem 03 · Commodity Derivatives Intelligence</a:t>
            </a:r>
          </a:p>
        </p:txBody>
      </p:sp>
      <p:sp>
        <p:nvSpPr>
          <p:cNvPr id="92" name="Members card"/>
          <p:cNvSpPr/>
          <p:nvPr/>
        </p:nvSpPr>
        <p:spPr>
          <a:xfrm>
            <a:off x="9326880" y="4754880"/>
            <a:ext cx="813816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9692640" y="4983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MEMBERS AND ROLES</a:t>
            </a:r>
          </a:p>
        </p:txBody>
      </p:sp>
      <p:sp>
        <p:nvSpPr>
          <p:cNvPr id="94" name="Member 1"/>
          <p:cNvSpPr txBox="1"/>
          <p:nvPr/>
        </p:nvSpPr>
        <p:spPr>
          <a:xfrm>
            <a:off x="9692640" y="5532120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Nikhil Kumar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692640" y="5943600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43A2E"/>
                </a:solidFill>
                <a:latin typeface="Calibri"/>
              </a:rPr>
              <a:t>ROLE (fill in)</a:t>
            </a:r>
          </a:p>
        </p:txBody>
      </p:sp>
      <p:sp>
        <p:nvSpPr>
          <p:cNvPr id="96" name="Member 2"/>
          <p:cNvSpPr txBox="1"/>
          <p:nvPr/>
        </p:nvSpPr>
        <p:spPr>
          <a:xfrm>
            <a:off x="9692640" y="6519672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43A2E"/>
                </a:solidFill>
                <a:latin typeface="Calibri"/>
              </a:rPr>
              <a:t>MEMBER 2 NAME (fill in)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92640" y="6931152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43A2E"/>
                </a:solidFill>
                <a:latin typeface="Calibri"/>
              </a:rPr>
              <a:t>ROLE (fill in)</a:t>
            </a:r>
          </a:p>
        </p:txBody>
      </p:sp>
      <p:sp>
        <p:nvSpPr>
          <p:cNvPr id="98" name="Member 3"/>
          <p:cNvSpPr txBox="1"/>
          <p:nvPr/>
        </p:nvSpPr>
        <p:spPr>
          <a:xfrm>
            <a:off x="9692640" y="7507224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43A2E"/>
                </a:solidFill>
                <a:latin typeface="Calibri"/>
              </a:rPr>
              <a:t>MEMBER 3 NAME (fill in)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92640" y="7918704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43A2E"/>
                </a:solidFill>
                <a:latin typeface="Calibri"/>
              </a:rPr>
              <a:t>ROLE (fill in)</a:t>
            </a:r>
          </a:p>
        </p:txBody>
      </p:sp>
      <p:sp>
        <p:nvSpPr>
          <p:cNvPr id="100" name="Member 4"/>
          <p:cNvSpPr txBox="1"/>
          <p:nvPr/>
        </p:nvSpPr>
        <p:spPr>
          <a:xfrm>
            <a:off x="9692640" y="8494776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43A2E"/>
                </a:solidFill>
                <a:latin typeface="Calibri"/>
              </a:rPr>
              <a:t>MEMBER 4 NAME (fill in)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92640" y="8906255"/>
            <a:ext cx="7406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43A2E"/>
                </a:solidFill>
                <a:latin typeface="Calibri"/>
              </a:rPr>
              <a:t>ROLE (fill 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PROBLEM STATEMENT &amp; THEME</a:t>
            </a:r>
          </a:p>
        </p:txBody>
      </p:sp>
      <p:sp>
        <p:nvSpPr>
          <p:cNvPr id="100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One metal, four prices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" y="2788920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5555A"/>
                </a:solidFill>
                <a:latin typeface="Calibri"/>
              </a:rPr>
              <a:t>MCX lists four gold futures that differ only in size and purity. Per gram of pure gold they should cost the same. Do they, can a gap be traded after real costs, and when is one worth a trader's attention?</a:t>
            </a:r>
          </a:p>
        </p:txBody>
      </p:sp>
      <p:sp>
        <p:nvSpPr>
          <p:cNvPr id="102" name="Contract GOLDM"/>
          <p:cNvSpPr/>
          <p:nvPr/>
        </p:nvSpPr>
        <p:spPr>
          <a:xfrm>
            <a:off x="91440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18872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8872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100 g bar · 995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8872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₹1,49,055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10 g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8872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₹14,980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07" name="Contract GOLDTEN"/>
          <p:cNvSpPr/>
          <p:nvPr/>
        </p:nvSpPr>
        <p:spPr>
          <a:xfrm>
            <a:off x="498348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25780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GOLDTEN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5780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10 g bar · 999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5780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₹1,49,436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10 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5780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₹14,959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12" name="Contract GOLDGUINEA"/>
          <p:cNvSpPr/>
          <p:nvPr/>
        </p:nvSpPr>
        <p:spPr>
          <a:xfrm>
            <a:off x="905256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932688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GOLDGUINEA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2688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8 g coin · 999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₹1,19,993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8 g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2688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₹15,014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17" name="Contract GOLDPETAL"/>
          <p:cNvSpPr/>
          <p:nvPr/>
        </p:nvSpPr>
        <p:spPr>
          <a:xfrm>
            <a:off x="13121640" y="3931920"/>
            <a:ext cx="37947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339596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Montserrat"/>
              </a:rPr>
              <a:t>GOLDPETAL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339596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1 g · 999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3395960" y="4983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D1D1F"/>
                </a:solidFill>
                <a:latin typeface="Calibri"/>
              </a:rPr>
              <a:t>₹15,002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1 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395960" y="55778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835A07"/>
                </a:solidFill>
                <a:latin typeface="Calibri"/>
              </a:rPr>
              <a:t>→ ₹15,017</a:t>
            </a:r>
            <a:r>
              <a:rPr sz="1500" b="0" i="0">
                <a:solidFill>
                  <a:srgbClr val="55555A"/>
                </a:solidFill>
                <a:latin typeface="Calibri"/>
              </a:rPr>
              <a:t>  per pure 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4400" y="6556248"/>
            <a:ext cx="1600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A"/>
                </a:solidFill>
                <a:latin typeface="Calibri"/>
              </a:rPr>
              <a:t>Most-traded contract of each, MCX closing prices, 1 Oct 2026. Four very different quotes become four near-equal prices per pure gram.</a:t>
            </a:r>
          </a:p>
        </p:txBody>
      </p:sp>
      <p:sp>
        <p:nvSpPr>
          <p:cNvPr id="123" name="Problem"/>
          <p:cNvSpPr/>
          <p:nvPr/>
        </p:nvSpPr>
        <p:spPr>
          <a:xfrm>
            <a:off x="914400" y="7086600"/>
            <a:ext cx="51663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188720" y="72694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PROBLEM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88720" y="7726679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Raw quotes hide whether a contract is cheap or dear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Gaps flip between structural and temporary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Typical backtests skip costs, delivery periods and unseen data</a:t>
            </a:r>
          </a:p>
        </p:txBody>
      </p:sp>
      <p:sp>
        <p:nvSpPr>
          <p:cNvPr id="126" name="Impact"/>
          <p:cNvSpPr/>
          <p:nvPr/>
        </p:nvSpPr>
        <p:spPr>
          <a:xfrm>
            <a:off x="6355080" y="7086600"/>
            <a:ext cx="51663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629400" y="72694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IMPACT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29400" y="7726679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The 8 g coin is 61–72 bp dearer than GOLDM, in all 41 cycles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In the Dec 2025 – Mar 2026 crash, small contracts sat ~2.7% above GOLDM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A wrong normalisation would show a fake ~40 bp gap</a:t>
            </a:r>
          </a:p>
        </p:txBody>
      </p:sp>
      <p:sp>
        <p:nvSpPr>
          <p:cNvPr id="129" name="Theme alignment"/>
          <p:cNvSpPr/>
          <p:nvPr/>
        </p:nvSpPr>
        <p:spPr>
          <a:xfrm>
            <a:off x="11795760" y="7086600"/>
            <a:ext cx="5166360" cy="269748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12070080" y="72694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THEME ALIGNMENT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070080" y="7726679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Problem 03: Commodity Derivatives Intelligence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Relative value, term structure, walk-forward backtest</a:t>
            </a:r>
          </a:p>
          <a:p>
            <a:pPr marL="274320" indent="-274320">
              <a:spcAft>
                <a:spcPts val="5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Trader alerts and contract lifecycle, as the brief 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SOLUTION</a:t>
            </a:r>
          </a:p>
        </p:txBody>
      </p:sp>
      <p:sp>
        <p:nvSpPr>
          <p:cNvPr id="109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Parity: is the gap real, and is it worth trading?</a:t>
            </a:r>
          </a:p>
        </p:txBody>
      </p:sp>
      <p:pic>
        <p:nvPicPr>
          <p:cNvPr id="110" name="Dashboard screenshot" descr="dash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88920"/>
            <a:ext cx="8138160" cy="508635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9418320" y="797356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A"/>
                </a:solidFill>
                <a:latin typeface="Calibri"/>
              </a:rPr>
              <a:t>The Parity dashboard: 8 pages, works offline in one HTML file.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2788920"/>
            <a:ext cx="8046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55555A"/>
                </a:solidFill>
                <a:latin typeface="Calibri"/>
              </a:rPr>
              <a:t>A dashboard and alert system that puts all four contracts in ₹ per pure gram, measures every gap, tests whether trading it pays after costs, and stays quiet when there is nothing to act 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14400" y="406908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KEY FEATURES</a:t>
            </a:r>
          </a:p>
        </p:txBody>
      </p:sp>
      <p:sp>
        <p:nvSpPr>
          <p:cNvPr id="114" name="Feature 1"/>
          <p:cNvSpPr txBox="1"/>
          <p:nvPr/>
        </p:nvSpPr>
        <p:spPr>
          <a:xfrm>
            <a:off x="914400" y="452628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Relative value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all 6 pairs, 95% ranges, carry-adjusted expiries</a:t>
            </a:r>
          </a:p>
        </p:txBody>
      </p:sp>
      <p:sp>
        <p:nvSpPr>
          <p:cNvPr id="115" name="Feature 2"/>
          <p:cNvSpPr txBox="1"/>
          <p:nvPr/>
        </p:nvSpPr>
        <p:spPr>
          <a:xfrm>
            <a:off x="914400" y="5239512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Fair-price signal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anchored on GOLDM; alert only beyond ±1.5σ</a:t>
            </a:r>
          </a:p>
        </p:txBody>
      </p:sp>
      <p:sp>
        <p:nvSpPr>
          <p:cNvPr id="116" name="Feature 3"/>
          <p:cNvSpPr txBox="1"/>
          <p:nvPr/>
        </p:nvSpPr>
        <p:spPr>
          <a:xfrm>
            <a:off x="914400" y="595274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Walk-forward backtest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next-day fills, MCX fees, CTT, stamp, GST, 0/5/10 bp slippage</a:t>
            </a:r>
          </a:p>
        </p:txBody>
      </p:sp>
      <p:sp>
        <p:nvSpPr>
          <p:cNvPr id="117" name="Feature 4"/>
          <p:cNvSpPr txBox="1"/>
          <p:nvPr/>
        </p:nvSpPr>
        <p:spPr>
          <a:xfrm>
            <a:off x="914400" y="6665976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Contract calendar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listing to expiry; every trade checked against the tender period</a:t>
            </a:r>
          </a:p>
        </p:txBody>
      </p:sp>
      <p:sp>
        <p:nvSpPr>
          <p:cNvPr id="118" name="Feature 5"/>
          <p:cNvSpPr txBox="1"/>
          <p:nvPr/>
        </p:nvSpPr>
        <p:spPr>
          <a:xfrm>
            <a:off x="914400" y="737920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D1D1F"/>
                </a:solidFill>
                <a:latin typeface="Calibri"/>
              </a:rPr>
              <a:t>Gap vs gold  </a:t>
            </a:r>
            <a:r>
              <a:rPr sz="1700" b="0" i="0">
                <a:solidFill>
                  <a:srgbClr val="55555A"/>
                </a:solidFill>
                <a:latin typeface="Calibri"/>
              </a:rPr>
              <a:t>each trade's profit split into the gap and gold's own move</a:t>
            </a:r>
          </a:p>
        </p:txBody>
      </p:sp>
      <p:sp>
        <p:nvSpPr>
          <p:cNvPr id="119" name="Unique value"/>
          <p:cNvSpPr/>
          <p:nvPr/>
        </p:nvSpPr>
        <p:spPr>
          <a:xfrm>
            <a:off x="914400" y="8229600"/>
            <a:ext cx="16642080" cy="150876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234440" y="8394192"/>
            <a:ext cx="160020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UNIQUE VALUE  </a:t>
            </a:r>
          </a:p>
          <a:p>
            <a:pPr algn="l"/>
            <a:r>
              <a:rPr sz="1900" b="0" i="0">
                <a:solidFill>
                  <a:srgbClr val="1D1D1F"/>
                </a:solidFill>
                <a:latin typeface="Calibri"/>
              </a:rPr>
              <a:t>Honest by design: every rule frozen in Git before its test data was read; three sealed tests, each run once; results shown even when they lose. 710 official MCX contracts, 0 unexplained data errors.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ARCHITECTURE</a:t>
            </a:r>
          </a:p>
        </p:txBody>
      </p:sp>
      <p:sp>
        <p:nvSpPr>
          <p:cNvPr id="118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From exchange files to a trader's screen</a:t>
            </a:r>
          </a:p>
        </p:txBody>
      </p:sp>
      <p:sp>
        <p:nvSpPr>
          <p:cNvPr id="119" name="Flow 1"/>
          <p:cNvSpPr/>
          <p:nvPr/>
        </p:nvSpPr>
        <p:spPr>
          <a:xfrm>
            <a:off x="914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115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MCX Bhavcopy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5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Official daily files, one contract at a time, 2003–2026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3931920" y="3995928"/>
            <a:ext cx="365760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low 2"/>
          <p:cNvSpPr/>
          <p:nvPr/>
        </p:nvSpPr>
        <p:spPr>
          <a:xfrm>
            <a:off x="4343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4544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ingest.py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44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Dedupe, integrity checks, ₹ per pure gram, sealed years walled off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7360920" y="3995928"/>
            <a:ext cx="365759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Flow 3"/>
          <p:cNvSpPr/>
          <p:nvPr/>
        </p:nvSpPr>
        <p:spPr>
          <a:xfrm>
            <a:off x="7772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7973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Analysis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973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pairs, carry and curve, fair price, backtests, lifecycle, alerts, bootstrap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789920" y="3995928"/>
            <a:ext cx="365760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low 4"/>
          <p:cNvSpPr/>
          <p:nvPr/>
        </p:nvSpPr>
        <p:spPr>
          <a:xfrm>
            <a:off x="11201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11402568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results/*.csv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402568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Every number written to a file, reproducible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4218920" y="3995928"/>
            <a:ext cx="365760" cy="0"/>
          </a:xfrm>
          <a:prstGeom prst="line">
            <a:avLst/>
          </a:prstGeom>
          <a:ln w="31750">
            <a:solidFill>
              <a:srgbClr val="835A0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low 5"/>
          <p:cNvSpPr/>
          <p:nvPr/>
        </p:nvSpPr>
        <p:spPr>
          <a:xfrm>
            <a:off x="14630400" y="3063240"/>
            <a:ext cx="2971800" cy="1874519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4831567" y="3246120"/>
            <a:ext cx="2569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Montserrat"/>
              </a:rPr>
              <a:t>export.py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4831567" y="3749039"/>
            <a:ext cx="256946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One data.json for every output</a:t>
            </a:r>
          </a:p>
        </p:txBody>
      </p:sp>
      <p:sp>
        <p:nvSpPr>
          <p:cNvPr id="138" name="Output 1"/>
          <p:cNvSpPr/>
          <p:nvPr/>
        </p:nvSpPr>
        <p:spPr>
          <a:xfrm>
            <a:off x="914400" y="54406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1143000" y="5577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React dashboard</a:t>
            </a:r>
          </a:p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8 pages, search, CSV downloads, one offline HTML file</a:t>
            </a:r>
          </a:p>
        </p:txBody>
      </p:sp>
      <p:sp>
        <p:nvSpPr>
          <p:cNvPr id="140" name="Output 2"/>
          <p:cNvSpPr/>
          <p:nvPr/>
        </p:nvSpPr>
        <p:spPr>
          <a:xfrm>
            <a:off x="6492240" y="54406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6720840" y="5577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Report PDF</a:t>
            </a:r>
          </a:p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17 pages, every figure from the same data</a:t>
            </a:r>
          </a:p>
        </p:txBody>
      </p:sp>
      <p:sp>
        <p:nvSpPr>
          <p:cNvPr id="142" name="Output 3"/>
          <p:cNvSpPr/>
          <p:nvPr/>
        </p:nvSpPr>
        <p:spPr>
          <a:xfrm>
            <a:off x="12070080" y="54406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2298680" y="5577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D1D1F"/>
                </a:solidFill>
                <a:latin typeface="Calibri"/>
              </a:rPr>
              <a:t>Interactive pitch</a:t>
            </a:r>
          </a:p>
          <a:p>
            <a:pPr algn="l"/>
            <a:r>
              <a:rPr sz="1500" b="0" i="0">
                <a:solidFill>
                  <a:srgbClr val="55555A"/>
                </a:solidFill>
                <a:latin typeface="Calibri"/>
              </a:rPr>
              <a:t>17 scenes, data-driven, offline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699516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TECH STACK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14400" y="745236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Python 3, pandas, NumPy: ingest, analysis, backtests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React 19 bundled with esbuild; charts drawn in SVG, no chart library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ReportLab and Matplotlib for the PDF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Git: rules time-stamped before each test; unit tests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99516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DATA FLOW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745236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Daily: new Bhavcopy → ingest → signals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Signals at the close, trades at the next day's price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Sealed rows live in a separate file until one run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070080" y="6995160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APIS USED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070080" y="745236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No paid APIs and no API keys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MCX's public Bhavcopy page, read in a browser</a:t>
            </a:r>
          </a:p>
          <a:p>
            <a:pPr marL="274320" indent="-274320">
              <a:spcAft>
                <a:spcPts val="400"/>
              </a:spcAft>
              <a:buChar char="•"/>
            </a:pPr>
            <a:r>
              <a:rPr sz="1600" b="0">
                <a:solidFill>
                  <a:srgbClr val="1D1D1F"/>
                </a:solidFill>
                <a:latin typeface="Calibri"/>
              </a:rPr>
              <a:t>Runs fully offline once data is 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MARKET RESEARCH / ANALYSIS</a:t>
            </a:r>
          </a:p>
        </p:txBody>
      </p:sp>
      <p:sp>
        <p:nvSpPr>
          <p:cNvPr id="127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Gold derivatives in India are growing fast</a:t>
            </a:r>
          </a:p>
        </p:txBody>
      </p:sp>
      <p:sp>
        <p:nvSpPr>
          <p:cNvPr id="128" name="Stat futures"/>
          <p:cNvSpPr/>
          <p:nvPr/>
        </p:nvSpPr>
        <p:spPr>
          <a:xfrm>
            <a:off x="914400" y="292608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1188720" y="31546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835A07"/>
                </a:solidFill>
                <a:latin typeface="Montserrat"/>
              </a:rPr>
              <a:t>₹28,484 cr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88720" y="3977639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average daily turnover, MCX gold futures, FY2025-26 (₹8,449 cr in FY2024-25)</a:t>
            </a:r>
          </a:p>
        </p:txBody>
      </p:sp>
      <p:sp>
        <p:nvSpPr>
          <p:cNvPr id="131" name="Stat tonnes"/>
          <p:cNvSpPr/>
          <p:nvPr/>
        </p:nvSpPr>
        <p:spPr>
          <a:xfrm>
            <a:off x="6583680" y="292608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858000" y="31546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835A07"/>
                </a:solidFill>
                <a:latin typeface="Montserrat"/>
              </a:rPr>
              <a:t>23 tonnes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58000" y="3977639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gold traded per day in futures, FY2025-26 (11 tonnes the year before)</a:t>
            </a:r>
          </a:p>
        </p:txBody>
      </p:sp>
      <p:sp>
        <p:nvSpPr>
          <p:cNvPr id="134" name="Stat bullion"/>
          <p:cNvSpPr/>
          <p:nvPr/>
        </p:nvSpPr>
        <p:spPr>
          <a:xfrm>
            <a:off x="12252960" y="292608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12527280" y="31546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835A07"/>
                </a:solidFill>
                <a:latin typeface="Montserrat"/>
              </a:rPr>
              <a:t>57%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527280" y="3977639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bullion's share of MCX average daily turnover, Q2 FY26 (44% a year earlier)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349240"/>
            <a:ext cx="1645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A"/>
                </a:solidFill>
                <a:latin typeface="Calibri"/>
              </a:rPr>
              <a:t>Sources: Business Today, 14 Aug 2026 (MCX data, FY2025-26); Business Standard, 7 Nov 2025 (MCX Q2 FY26 results).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58978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TARGET USERS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630936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Gold futures traders choosing which contract to trade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Arbitrage and prop desks running spread trades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Jewellers and bullion dealers hedging with small lots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Broker research teams publishing trade ideas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326880" y="589788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MARKET SIZE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326880" y="630936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MCX offers gold in 1 kg, 100 g, 10 g, 8 g and 1 g lots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Parity covers the four small contracts; in our files GOLDM trades a median 441 kg a day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MCX average daily turnover ₹4.11 lakh cr (futures and options), Q2 FY26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790956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POTENTIAL REVENUE MODEL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832104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Free dashboard; paid daily alerts by email or Telegram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White-label licence for brokers' research desks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Data feed of normalised prices and fair-value signals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26880" y="7909560"/>
            <a:ext cx="8138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35A07"/>
                </a:solidFill>
                <a:latin typeface="Montserrat"/>
              </a:rPr>
              <a:t>EXPECTED GROWTH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6880" y="8321040"/>
            <a:ext cx="8138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Futures turnover more than tripled in one year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Small lots (10 g, 1 g) bring in retail hedgers</a:t>
            </a:r>
          </a:p>
          <a:p>
            <a:pPr marL="274320" indent="-274320">
              <a:spcAft>
                <a:spcPts val="200"/>
              </a:spcAft>
              <a:buChar char="•"/>
            </a:pPr>
            <a:r>
              <a:rPr sz="1500" b="0">
                <a:solidFill>
                  <a:srgbClr val="1D1D1F"/>
                </a:solidFill>
                <a:latin typeface="Calibri"/>
              </a:rPr>
              <a:t>Same method extends to silver: SILVERM and SILVERMIC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FUTURE SCOPE</a:t>
            </a:r>
          </a:p>
        </p:txBody>
      </p:sp>
      <p:sp>
        <p:nvSpPr>
          <p:cNvPr id="136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What comes next</a:t>
            </a:r>
          </a:p>
        </p:txBody>
      </p:sp>
      <p:sp>
        <p:nvSpPr>
          <p:cNvPr id="137" name="Live paper trading"/>
          <p:cNvSpPr/>
          <p:nvPr/>
        </p:nvSpPr>
        <p:spPr>
          <a:xfrm>
            <a:off x="914400" y="292608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1188720" y="31546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88720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Live paper trading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88720" y="434340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Run Strategy B day by day on new MCX files from October 2026, before any real money.</a:t>
            </a:r>
          </a:p>
        </p:txBody>
      </p:sp>
      <p:sp>
        <p:nvSpPr>
          <p:cNvPr id="141" name="Intraday data"/>
          <p:cNvSpPr/>
          <p:nvPr/>
        </p:nvSpPr>
        <p:spPr>
          <a:xfrm>
            <a:off x="6492240" y="292608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6766559" y="31546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766559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Intraday data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766559" y="434340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Replace the end-of-day close with real fills to measure slippage instead of assuming 5 bp.</a:t>
            </a:r>
          </a:p>
        </p:txBody>
      </p:sp>
      <p:sp>
        <p:nvSpPr>
          <p:cNvPr id="145" name="Alerts where traders are"/>
          <p:cNvSpPr/>
          <p:nvPr/>
        </p:nvSpPr>
        <p:spPr>
          <a:xfrm>
            <a:off x="12070080" y="292608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2344400" y="31546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344400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Alerts where traders are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344400" y="434340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Email and Telegram alerts that fire only beyond ±1.5σ, with the cost of acting shown.</a:t>
            </a:r>
          </a:p>
        </p:txBody>
      </p:sp>
      <p:sp>
        <p:nvSpPr>
          <p:cNvPr id="149" name="Longer premium history"/>
          <p:cNvSpPr/>
          <p:nvPr/>
        </p:nvSpPr>
        <p:spPr>
          <a:xfrm>
            <a:off x="914400" y="608076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1188720" y="63093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88720" y="69951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Longer premium history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88720" y="74980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Measure the coin and 1 g premiums back to 2008 and 2011, now that the sealed run is done.</a:t>
            </a:r>
          </a:p>
        </p:txBody>
      </p:sp>
      <p:sp>
        <p:nvSpPr>
          <p:cNvPr id="153" name="Safer rules"/>
          <p:cNvSpPr/>
          <p:nvPr/>
        </p:nvSpPr>
        <p:spPr>
          <a:xfrm>
            <a:off x="6492240" y="608076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766559" y="63093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766559" y="69951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Safer rules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766559" y="74980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Price-limit filter, and a spot cross-check against IBJA's published 999 and 995 rates.</a:t>
            </a:r>
          </a:p>
        </p:txBody>
      </p:sp>
      <p:sp>
        <p:nvSpPr>
          <p:cNvPr id="157" name="More metals"/>
          <p:cNvSpPr/>
          <p:nvPr/>
        </p:nvSpPr>
        <p:spPr>
          <a:xfrm>
            <a:off x="12070080" y="6080760"/>
            <a:ext cx="53035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12344400" y="63093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835A07"/>
                </a:solidFill>
                <a:latin typeface="Montserrat"/>
              </a:rPr>
              <a:t>06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344400" y="69951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D1F"/>
                </a:solidFill>
                <a:latin typeface="Calibri"/>
              </a:rPr>
              <a:t>More metals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2344400" y="74980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555A"/>
                </a:solidFill>
                <a:latin typeface="Calibri"/>
              </a:rPr>
              <a:t>The same normalisation for silver (SILVERM, SILVERMIC) and other multi-size contracts.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Kicker"/>
          <p:cNvSpPr txBox="1"/>
          <p:nvPr/>
        </p:nvSpPr>
        <p:spPr>
          <a:xfrm>
            <a:off x="914400" y="1481328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35A07"/>
                </a:solidFill>
                <a:latin typeface="Montserrat"/>
              </a:rPr>
              <a:t>EXTRA: RESULTS</a:t>
            </a:r>
          </a:p>
        </p:txBody>
      </p:sp>
      <p:sp>
        <p:nvSpPr>
          <p:cNvPr id="145" name="Title"/>
          <p:cNvSpPr txBox="1"/>
          <p:nvPr/>
        </p:nvSpPr>
        <p:spPr>
          <a:xfrm>
            <a:off x="914400" y="187451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D1F"/>
                </a:solidFill>
                <a:latin typeface="Montserrat"/>
              </a:rPr>
              <a:t>Tested on eight years it had never seen</a:t>
            </a:r>
          </a:p>
        </p:txBody>
      </p:sp>
      <p:pic>
        <p:nvPicPr>
          <p:cNvPr id="146" name="Sealed tests chart" descr="sea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9326880" cy="3544214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14400" y="644652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A"/>
                </a:solidFill>
                <a:latin typeface="Calibri"/>
              </a:rPr>
              <a:t>Net profit after all costs at 5 bp slippage, each window run once with rules frozen in Git first.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698480" y="2926080"/>
            <a:ext cx="68580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Strategy A (pairs) is rejected: </a:t>
            </a:r>
            <a:r>
              <a:rPr sz="1800" b="0">
                <a:solidFill>
                  <a:srgbClr val="1D1D1F"/>
                </a:solidFill>
                <a:latin typeface="Calibri"/>
              </a:rPr>
              <a:t>it lost in both windows even with perfect fills.</a:t>
            </a:r>
          </a:p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Strategy B (fair price) made money in all 3 sealed tests: </a:t>
            </a:r>
            <a:r>
              <a:rPr sz="1800" b="0">
                <a:solidFill>
                  <a:srgbClr val="1D1D1F"/>
                </a:solidFill>
                <a:latin typeface="Calibri"/>
              </a:rPr>
              <a:t>₹12,990, ₹35,873 and ₹6,962 net profit at 5 bp.</a:t>
            </a:r>
          </a:p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Positive, not proven: </a:t>
            </a:r>
            <a:r>
              <a:rPr sz="1800" b="0">
                <a:solidFill>
                  <a:srgbClr val="1D1D1F"/>
                </a:solidFill>
                <a:latin typeface="Calibri"/>
              </a:rPr>
              <a:t>each 95% range includes zero, and it loses at 10 bp in two of three.</a:t>
            </a:r>
          </a:p>
          <a:p>
            <a:pPr marL="274320" indent="-274320">
              <a:spcAft>
                <a:spcPts val="1000"/>
              </a:spcAft>
              <a:buChar char="•"/>
            </a:pPr>
            <a:r>
              <a:rPr sz="1800" b="1">
                <a:solidFill>
                  <a:srgbClr val="1D1D1F"/>
                </a:solidFill>
                <a:latin typeface="Calibri"/>
              </a:rPr>
              <a:t>Crashes pay sometimes: </a:t>
            </a:r>
            <a:r>
              <a:rPr sz="1800" b="0">
                <a:solidFill>
                  <a:srgbClr val="1D1D1F"/>
                </a:solidFill>
                <a:latin typeface="Calibri"/>
              </a:rPr>
              <a:t>January 2026 paid; March 2020 did not.</a:t>
            </a:r>
          </a:p>
        </p:txBody>
      </p:sp>
      <p:sp>
        <p:nvSpPr>
          <p:cNvPr id="149" name="Data"/>
          <p:cNvSpPr/>
          <p:nvPr/>
        </p:nvSpPr>
        <p:spPr>
          <a:xfrm>
            <a:off x="914400" y="7086600"/>
            <a:ext cx="16642080" cy="2103120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12801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710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801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MCX contracts, 2003–2026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3949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55,457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3949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daily records checked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5097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097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unexplained data errors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624560" y="7360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835A07"/>
                </a:solidFill>
                <a:latin typeface="Montserrat"/>
              </a:rP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3624560" y="8275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5555A"/>
                </a:solidFill>
                <a:latin typeface="Calibri"/>
              </a:rPr>
              <a:t>sealed tests, each run once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0"/>
          <p:cNvGrpSpPr/>
          <p:nvPr/>
        </p:nvGrpSpPr>
        <p:grpSpPr>
          <a:xfrm>
            <a:off x="4239144" y="5736501"/>
            <a:ext cx="8898075" cy="2077107"/>
            <a:chOff x="0" y="180975"/>
            <a:chExt cx="11864100" cy="2769476"/>
          </a:xfrm>
        </p:grpSpPr>
        <p:sp>
          <p:nvSpPr>
            <p:cNvPr id="149" name="Google Shape;149;p20"/>
            <p:cNvSpPr txBox="1"/>
            <p:nvPr/>
          </p:nvSpPr>
          <p:spPr>
            <a:xfrm>
              <a:off x="0" y="180975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0"/>
            <p:cNvSpPr txBox="1"/>
            <p:nvPr/>
          </p:nvSpPr>
          <p:spPr>
            <a:xfrm>
              <a:off x="0" y="2581151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20"/>
          <p:cNvGrpSpPr/>
          <p:nvPr/>
        </p:nvGrpSpPr>
        <p:grpSpPr>
          <a:xfrm>
            <a:off x="2554002" y="5409216"/>
            <a:ext cx="12268350" cy="1305429"/>
            <a:chOff x="0" y="19050"/>
            <a:chExt cx="16357800" cy="1740572"/>
          </a:xfrm>
        </p:grpSpPr>
        <p:sp>
          <p:nvSpPr>
            <p:cNvPr id="152" name="Google Shape;152;p20"/>
            <p:cNvSpPr txBox="1"/>
            <p:nvPr/>
          </p:nvSpPr>
          <p:spPr>
            <a:xfrm>
              <a:off x="0" y="19050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409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0"/>
            <p:cNvSpPr txBox="1"/>
            <p:nvPr/>
          </p:nvSpPr>
          <p:spPr>
            <a:xfrm>
              <a:off x="0" y="1390322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01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20"/>
          <p:cNvGrpSpPr/>
          <p:nvPr/>
        </p:nvGrpSpPr>
        <p:grpSpPr>
          <a:xfrm>
            <a:off x="1873714" y="4696929"/>
            <a:ext cx="13628822" cy="4488047"/>
            <a:chOff x="2753902" y="4797891"/>
            <a:chExt cx="13628822" cy="4488047"/>
          </a:xfrm>
        </p:grpSpPr>
        <p:sp>
          <p:nvSpPr>
            <p:cNvPr id="155" name="Google Shape;155;p20"/>
            <p:cNvSpPr txBox="1"/>
            <p:nvPr/>
          </p:nvSpPr>
          <p:spPr>
            <a:xfrm rot="-348051">
              <a:off x="2847493" y="5401630"/>
              <a:ext cx="12071717" cy="24624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4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29088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Thank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  <p:sp>
          <p:nvSpPr>
            <p:cNvPr id="156" name="Google Shape;156;p20"/>
            <p:cNvSpPr txBox="1"/>
            <p:nvPr/>
          </p:nvSpPr>
          <p:spPr>
            <a:xfrm>
              <a:off x="4695023" y="6732039"/>
              <a:ext cx="11687700" cy="25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30167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you!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</p:grpSp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