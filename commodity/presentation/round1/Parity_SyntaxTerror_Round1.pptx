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10287000" cx="18288000"/>
  <p:notesSz cx="6858000" cy="9144000"/>
  <p:embeddedFontLst>
    <p:embeddedFont>
      <p:font typeface="IBM Plex Sans"/>
      <p:bold r:id="rId14"/>
      <p:boldItalic r:id="rId15"/>
    </p:embeddedFont>
    <p:embeddedFont>
      <p:font typeface="Caveat"/>
      <p:regular r:id="rId16"/>
      <p:bold r:id="rId17"/>
    </p:embeddedFont>
    <p:embeddedFont>
      <p:font typeface="Montserrat"/>
      <p:bold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font" Target="fonts/IBMPlexSans-bold.fntdata"/><Relationship Id="rId15" Type="http://schemas.openxmlformats.org/officeDocument/2006/relationships/font" Target="fonts/IBMPlexSans-boldItalic.fntdata"/><Relationship Id="rId16" Type="http://schemas.openxmlformats.org/officeDocument/2006/relationships/font" Target="fonts/Caveat-regular.fntdata"/><Relationship Id="rId17" Type="http://schemas.openxmlformats.org/officeDocument/2006/relationships/font" Target="fonts/Caveat-bold.fntdata"/><Relationship Id="rId18" Type="http://schemas.openxmlformats.org/officeDocument/2006/relationships/font" Target="fonts/Montserrat-bold.fntdata"/><Relationship Id="rId19" Type="http://schemas.openxmlformats.org/officeDocument/2006/relationships/font" Target="fonts/Montserra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SYNTAX TERROR (TAN). Our project, Parity, answers Problem 03 with a working prototype built on 710 official MCX gold contracts.</a:t>
            </a: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MCX contracts hold the same metal but quote it four ways. Converted to rupees per gram of pure gold they nearly match. The gaps that remain are real money: the coin's steady premium, and a 2.7% gap during the 2026 crash.</a:t>
            </a:r>
          </a:p>
        </p:txBody>
      </p:sp>
      <p:sp>
        <p:nvSpPr>
          <p:cNvPr id="92" name="Google Shape;9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Parity is a working dashboard. It compares the four contracts fairly, raises an alert only when one strays far from fair price, backtests every rule after real costs on unseen data, and checks every trade against the contract calendar.</a:t>
            </a:r>
          </a:p>
        </p:txBody>
      </p:sp>
      <p:sp>
        <p:nvSpPr>
          <p:cNvPr id="101" name="Google Shape;10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Official MCX files go in. They are cleaned and checked, every analysis writes its results to a file, and one export feeds the dashboard, report and pitch.</a:t>
            </a:r>
          </a:p>
        </p:txBody>
      </p:sp>
      <p:sp>
        <p:nvSpPr>
          <p:cNvPr id="110" name="Google Shape;11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Gold futures on MCX trade about 28 thousand crore rupees a day, 3.4 times more than a year earlier. Market figures are from MCX data reported by Business Today and Business Standard; the revenue model is our plan.</a:t>
            </a:r>
          </a:p>
        </p:txBody>
      </p:sp>
      <p:sp>
        <p:nvSpPr>
          <p:cNvPr id="119" name="Google Shape;119;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First, prove the rule live on paper. Then better data, alerts where traders already are, and the same method for silver.</a:t>
            </a:r>
          </a:p>
        </p:txBody>
      </p:sp>
      <p:sp>
        <p:nvSpPr>
          <p:cNvPr id="128" name="Google Shape;128;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tested on eight years the rules had never seen. The simple pairs rule failed. The fair-price rule made money in all three sealed tests, but the edge is small and depends on trading costs, and we say so.</a:t>
            </a:r>
          </a:p>
        </p:txBody>
      </p:sp>
      <p:sp>
        <p:nvSpPr>
          <p:cNvPr id="137" name="Google Shape;137;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32.png"/><Relationship Id="rId6" Type="http://schemas.openxmlformats.org/officeDocument/2006/relationships/image" Target="../media/image14.png"/><Relationship Id="rId7" Type="http://schemas.openxmlformats.org/officeDocument/2006/relationships/image" Target="../media/image21.png"/><Relationship Id="rId8" Type="http://schemas.openxmlformats.org/officeDocument/2006/relationships/image" Target="../media/image33.png"/><Relationship Id="rId9"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7" name="Google Shape;87;p13" title="download (2).jpg"/>
          <p:cNvPicPr preferRelativeResize="0"/>
          <p:nvPr/>
        </p:nvPicPr>
        <p:blipFill rotWithShape="1">
          <a:blip r:embed="rId3">
            <a:alphaModFix/>
          </a:blip>
          <a:srcRect b="0" l="38928" r="16455" t="0"/>
          <a:stretch/>
        </p:blipFill>
        <p:spPr>
          <a:xfrm rot="-5400000">
            <a:off x="7123100" y="-7111200"/>
            <a:ext cx="4088375" cy="18326624"/>
          </a:xfrm>
          <a:prstGeom prst="rect">
            <a:avLst/>
          </a:prstGeom>
          <a:noFill/>
          <a:ln>
            <a:noFill/>
          </a:ln>
        </p:spPr>
      </p:pic>
      <p:pic>
        <p:nvPicPr>
          <p:cNvPr id="88" name="Google Shape;88;p13" title="Group 48097831.png"/>
          <p:cNvPicPr preferRelativeResize="0"/>
          <p:nvPr/>
        </p:nvPicPr>
        <p:blipFill>
          <a:blip r:embed="rId4">
            <a:alphaModFix/>
          </a:blip>
          <a:stretch>
            <a:fillRect/>
          </a:stretch>
        </p:blipFill>
        <p:spPr>
          <a:xfrm>
            <a:off x="318675" y="296224"/>
            <a:ext cx="7240346" cy="791925"/>
          </a:xfrm>
          <a:prstGeom prst="rect">
            <a:avLst/>
          </a:prstGeom>
          <a:noFill/>
          <a:ln>
            <a:noFill/>
          </a:ln>
        </p:spPr>
      </p:pic>
      <p:pic>
        <p:nvPicPr>
          <p:cNvPr id="89" name="Google Shape;89;p13" title="Logo.png"/>
          <p:cNvPicPr preferRelativeResize="0"/>
          <p:nvPr/>
        </p:nvPicPr>
        <p:blipFill>
          <a:blip r:embed="rId5">
            <a:alphaModFix/>
          </a:blip>
          <a:stretch>
            <a:fillRect/>
          </a:stretch>
        </p:blipFill>
        <p:spPr>
          <a:xfrm>
            <a:off x="12520575" y="296231"/>
            <a:ext cx="5599601" cy="791925"/>
          </a:xfrm>
          <a:prstGeom prst="rect">
            <a:avLst/>
          </a:prstGeom>
          <a:noFill/>
          <a:ln>
            <a:noFill/>
          </a:ln>
        </p:spPr>
      </p:pic>
      <p:sp>
        <p:nvSpPr>
          <p:cNvPr id="90" name="Title"/>
          <p:cNvSpPr txBox="1"/>
          <p:nvPr/>
        </p:nvSpPr>
        <p:spPr>
          <a:xfrm>
            <a:off x="914400" y="4617720"/>
            <a:ext cx="7315200" cy="685800"/>
          </a:xfrm>
          <a:prstGeom prst="rect">
            <a:avLst/>
          </a:prstGeom>
          <a:noFill/>
        </p:spPr>
        <p:txBody>
          <a:bodyPr wrap="square" anchor="t" lIns="0" rIns="0" tIns="0" bIns="0">
            <a:spAutoFit/>
          </a:bodyPr>
          <a:lstStyle/>
          <a:p>
            <a:pPr algn="l">
              <a:spcAft>
                <a:spcPts val="0"/>
              </a:spcAft>
            </a:pPr>
            <a:r>
              <a:rPr sz="4400" b="1">
                <a:solidFill>
                  <a:srgbClr val="1D1D1F"/>
                </a:solidFill>
                <a:latin typeface="Montserrat"/>
              </a:rPr>
              <a:t>TEAM</a:t>
            </a:r>
          </a:p>
        </p:txBody>
      </p:sp>
      <p:sp>
        <p:nvSpPr>
          <p:cNvPr id="91" name="TextBox 90"/>
          <p:cNvSpPr txBox="1"/>
          <p:nvPr/>
        </p:nvSpPr>
        <p:spPr>
          <a:xfrm>
            <a:off x="914400" y="5440680"/>
            <a:ext cx="786384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TEAM NAME</a:t>
            </a:r>
          </a:p>
        </p:txBody>
      </p:sp>
      <p:sp>
        <p:nvSpPr>
          <p:cNvPr id="92" name="Team name"/>
          <p:cNvSpPr txBox="1"/>
          <p:nvPr/>
        </p:nvSpPr>
        <p:spPr>
          <a:xfrm>
            <a:off x="914400" y="5806440"/>
            <a:ext cx="7863840" cy="685800"/>
          </a:xfrm>
          <a:prstGeom prst="rect">
            <a:avLst/>
          </a:prstGeom>
          <a:noFill/>
        </p:spPr>
        <p:txBody>
          <a:bodyPr wrap="square" anchor="t" lIns="0" rIns="0" tIns="0" bIns="0">
            <a:spAutoFit/>
          </a:bodyPr>
          <a:lstStyle/>
          <a:p>
            <a:pPr algn="l">
              <a:spcAft>
                <a:spcPts val="0"/>
              </a:spcAft>
            </a:pPr>
            <a:r>
              <a:rPr sz="4000" b="1">
                <a:solidFill>
                  <a:srgbClr val="1D1D1F"/>
                </a:solidFill>
                <a:latin typeface="Montserrat"/>
              </a:rPr>
              <a:t>SYNTAX TERROR (TAN)</a:t>
            </a:r>
          </a:p>
        </p:txBody>
      </p:sp>
      <p:sp>
        <p:nvSpPr>
          <p:cNvPr id="93" name="TextBox 92"/>
          <p:cNvSpPr txBox="1"/>
          <p:nvPr/>
        </p:nvSpPr>
        <p:spPr>
          <a:xfrm>
            <a:off x="914400" y="6629400"/>
            <a:ext cx="7863840" cy="914400"/>
          </a:xfrm>
          <a:prstGeom prst="rect">
            <a:avLst/>
          </a:prstGeom>
          <a:noFill/>
        </p:spPr>
        <p:txBody>
          <a:bodyPr wrap="square" anchor="t" lIns="0" rIns="0" tIns="0" bIns="0">
            <a:spAutoFit/>
          </a:bodyPr>
          <a:lstStyle/>
          <a:p>
            <a:pPr algn="l">
              <a:spcAft>
                <a:spcPts val="400"/>
              </a:spcAft>
            </a:pPr>
            <a:r>
              <a:rPr sz="2200" b="1">
                <a:solidFill>
                  <a:srgbClr val="4A4A50"/>
                </a:solidFill>
                <a:latin typeface="Calibri"/>
              </a:rPr>
              <a:t>Project: </a:t>
            </a:r>
            <a:r>
              <a:rPr sz="2200" b="0">
                <a:solidFill>
                  <a:srgbClr val="4A4A50"/>
                </a:solidFill>
                <a:latin typeface="Calibri"/>
              </a:rPr>
              <a:t>Parity, MCX gold futures intelligence</a:t>
            </a:r>
          </a:p>
          <a:p>
            <a:pPr algn="l">
              <a:spcAft>
                <a:spcPts val="400"/>
              </a:spcAft>
            </a:pPr>
            <a:r>
              <a:rPr sz="2200" b="1">
                <a:solidFill>
                  <a:srgbClr val="4A4A50"/>
                </a:solidFill>
                <a:latin typeface="Calibri"/>
              </a:rPr>
              <a:t>Problem 03: </a:t>
            </a:r>
            <a:r>
              <a:rPr sz="2200" b="0">
                <a:solidFill>
                  <a:srgbClr val="4A4A50"/>
                </a:solidFill>
                <a:latin typeface="Calibri"/>
              </a:rPr>
              <a:t>Commodity Derivatives Intelligence</a:t>
            </a:r>
          </a:p>
        </p:txBody>
      </p:sp>
      <p:sp>
        <p:nvSpPr>
          <p:cNvPr id="94" name="Working prototype"/>
          <p:cNvSpPr/>
          <p:nvPr/>
        </p:nvSpPr>
        <p:spPr>
          <a:xfrm>
            <a:off x="914400" y="8001000"/>
            <a:ext cx="3063240" cy="640080"/>
          </a:xfrm>
          <a:prstGeom prst="roundRect">
            <a:avLst>
              <a:gd name="adj" fmla="val 50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5" name="Picture 94" descr="check.png"/>
          <p:cNvPicPr>
            <a:picLocks noChangeAspect="1"/>
          </p:cNvPicPr>
          <p:nvPr/>
        </p:nvPicPr>
        <p:blipFill>
          <a:blip r:embed="rId6"/>
          <a:stretch>
            <a:fillRect/>
          </a:stretch>
        </p:blipFill>
        <p:spPr>
          <a:xfrm>
            <a:off x="1078992" y="8119872"/>
            <a:ext cx="402336" cy="402336"/>
          </a:xfrm>
          <a:prstGeom prst="rect">
            <a:avLst/>
          </a:prstGeom>
        </p:spPr>
      </p:pic>
      <p:sp>
        <p:nvSpPr>
          <p:cNvPr id="96" name="TextBox 95"/>
          <p:cNvSpPr txBox="1"/>
          <p:nvPr/>
        </p:nvSpPr>
        <p:spPr>
          <a:xfrm>
            <a:off x="1572768" y="8001000"/>
            <a:ext cx="2331720" cy="640080"/>
          </a:xfrm>
          <a:prstGeom prst="rect">
            <a:avLst/>
          </a:prstGeom>
          <a:noFill/>
        </p:spPr>
        <p:txBody>
          <a:bodyPr wrap="square" anchor="ctr" lIns="0" rIns="0" tIns="0" bIns="0">
            <a:spAutoFit/>
          </a:bodyPr>
          <a:lstStyle/>
          <a:p>
            <a:pPr algn="l">
              <a:spcAft>
                <a:spcPts val="0"/>
              </a:spcAft>
            </a:pPr>
            <a:r>
              <a:rPr sz="1900" b="1">
                <a:solidFill>
                  <a:srgbClr val="1D1D1F"/>
                </a:solidFill>
                <a:latin typeface="Calibri"/>
              </a:rPr>
              <a:t>Working prototype</a:t>
            </a:r>
          </a:p>
        </p:txBody>
      </p:sp>
      <p:sp>
        <p:nvSpPr>
          <p:cNvPr id="97" name="710 contracts"/>
          <p:cNvSpPr/>
          <p:nvPr/>
        </p:nvSpPr>
        <p:spPr>
          <a:xfrm>
            <a:off x="4160520" y="8001000"/>
            <a:ext cx="2423160" cy="640080"/>
          </a:xfrm>
          <a:prstGeom prst="roundRect">
            <a:avLst>
              <a:gd name="adj" fmla="val 50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8" name="Picture 97" descr="database.png"/>
          <p:cNvPicPr>
            <a:picLocks noChangeAspect="1"/>
          </p:cNvPicPr>
          <p:nvPr/>
        </p:nvPicPr>
        <p:blipFill>
          <a:blip r:embed="rId7"/>
          <a:stretch>
            <a:fillRect/>
          </a:stretch>
        </p:blipFill>
        <p:spPr>
          <a:xfrm>
            <a:off x="4325112" y="8119872"/>
            <a:ext cx="402336" cy="402336"/>
          </a:xfrm>
          <a:prstGeom prst="rect">
            <a:avLst/>
          </a:prstGeom>
        </p:spPr>
      </p:pic>
      <p:sp>
        <p:nvSpPr>
          <p:cNvPr id="99" name="TextBox 98"/>
          <p:cNvSpPr txBox="1"/>
          <p:nvPr/>
        </p:nvSpPr>
        <p:spPr>
          <a:xfrm>
            <a:off x="4818888" y="8001000"/>
            <a:ext cx="1691639" cy="640080"/>
          </a:xfrm>
          <a:prstGeom prst="rect">
            <a:avLst/>
          </a:prstGeom>
          <a:noFill/>
        </p:spPr>
        <p:txBody>
          <a:bodyPr wrap="square" anchor="ctr" lIns="0" rIns="0" tIns="0" bIns="0">
            <a:spAutoFit/>
          </a:bodyPr>
          <a:lstStyle/>
          <a:p>
            <a:pPr algn="l">
              <a:spcAft>
                <a:spcPts val="0"/>
              </a:spcAft>
            </a:pPr>
            <a:r>
              <a:rPr sz="1900" b="1">
                <a:solidFill>
                  <a:srgbClr val="1D1D1F"/>
                </a:solidFill>
                <a:latin typeface="Calibri"/>
              </a:rPr>
              <a:t>710 contracts</a:t>
            </a:r>
          </a:p>
        </p:txBody>
      </p:sp>
      <p:sp>
        <p:nvSpPr>
          <p:cNvPr id="100" name="3 sealed tests"/>
          <p:cNvSpPr/>
          <p:nvPr/>
        </p:nvSpPr>
        <p:spPr>
          <a:xfrm>
            <a:off x="6766560" y="8001000"/>
            <a:ext cx="2560320" cy="640080"/>
          </a:xfrm>
          <a:prstGeom prst="roundRect">
            <a:avLst>
              <a:gd name="adj" fmla="val 50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1" name="Picture 100" descr="shield.png"/>
          <p:cNvPicPr>
            <a:picLocks noChangeAspect="1"/>
          </p:cNvPicPr>
          <p:nvPr/>
        </p:nvPicPr>
        <p:blipFill>
          <a:blip r:embed="rId8"/>
          <a:stretch>
            <a:fillRect/>
          </a:stretch>
        </p:blipFill>
        <p:spPr>
          <a:xfrm>
            <a:off x="6931152" y="8119872"/>
            <a:ext cx="402336" cy="402336"/>
          </a:xfrm>
          <a:prstGeom prst="rect">
            <a:avLst/>
          </a:prstGeom>
        </p:spPr>
      </p:pic>
      <p:sp>
        <p:nvSpPr>
          <p:cNvPr id="102" name="TextBox 101"/>
          <p:cNvSpPr txBox="1"/>
          <p:nvPr/>
        </p:nvSpPr>
        <p:spPr>
          <a:xfrm>
            <a:off x="7424928" y="8001000"/>
            <a:ext cx="1828799" cy="640080"/>
          </a:xfrm>
          <a:prstGeom prst="rect">
            <a:avLst/>
          </a:prstGeom>
          <a:noFill/>
        </p:spPr>
        <p:txBody>
          <a:bodyPr wrap="square" anchor="ctr" lIns="0" rIns="0" tIns="0" bIns="0">
            <a:spAutoFit/>
          </a:bodyPr>
          <a:lstStyle/>
          <a:p>
            <a:pPr algn="l">
              <a:spcAft>
                <a:spcPts val="0"/>
              </a:spcAft>
            </a:pPr>
            <a:r>
              <a:rPr sz="1900" b="1">
                <a:solidFill>
                  <a:srgbClr val="1D1D1F"/>
                </a:solidFill>
                <a:latin typeface="Calibri"/>
              </a:rPr>
              <a:t>3 sealed tests</a:t>
            </a:r>
          </a:p>
        </p:txBody>
      </p:sp>
      <p:sp>
        <p:nvSpPr>
          <p:cNvPr id="103" name="Members card"/>
          <p:cNvSpPr/>
          <p:nvPr/>
        </p:nvSpPr>
        <p:spPr>
          <a:xfrm>
            <a:off x="9509760" y="4617720"/>
            <a:ext cx="7863840" cy="507492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921240" y="4892040"/>
            <a:ext cx="731520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MEMBERS AND ROLES</a:t>
            </a:r>
          </a:p>
        </p:txBody>
      </p:sp>
      <p:sp>
        <p:nvSpPr>
          <p:cNvPr id="105" name="Oval 104"/>
          <p:cNvSpPr/>
          <p:nvPr/>
        </p:nvSpPr>
        <p:spPr>
          <a:xfrm>
            <a:off x="9921240" y="5486400"/>
            <a:ext cx="731520" cy="73152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6" name="Picture 105" descr="target_w.png"/>
          <p:cNvPicPr>
            <a:picLocks noChangeAspect="1"/>
          </p:cNvPicPr>
          <p:nvPr/>
        </p:nvPicPr>
        <p:blipFill>
          <a:blip r:embed="rId9"/>
          <a:stretch>
            <a:fillRect/>
          </a:stretch>
        </p:blipFill>
        <p:spPr>
          <a:xfrm>
            <a:off x="10082174" y="5647334"/>
            <a:ext cx="409651" cy="409651"/>
          </a:xfrm>
          <a:prstGeom prst="rect">
            <a:avLst/>
          </a:prstGeom>
        </p:spPr>
      </p:pic>
      <p:sp>
        <p:nvSpPr>
          <p:cNvPr id="107" name="Member 1"/>
          <p:cNvSpPr txBox="1"/>
          <p:nvPr/>
        </p:nvSpPr>
        <p:spPr>
          <a:xfrm>
            <a:off x="10881360" y="5440680"/>
            <a:ext cx="6309360" cy="457200"/>
          </a:xfrm>
          <a:prstGeom prst="rect">
            <a:avLst/>
          </a:prstGeom>
          <a:noFill/>
        </p:spPr>
        <p:txBody>
          <a:bodyPr wrap="square" anchor="t" lIns="0" rIns="0" tIns="0" bIns="0">
            <a:spAutoFit/>
          </a:bodyPr>
          <a:lstStyle/>
          <a:p>
            <a:pPr algn="l">
              <a:spcAft>
                <a:spcPts val="0"/>
              </a:spcAft>
            </a:pPr>
            <a:r>
              <a:rPr sz="2800" b="1">
                <a:solidFill>
                  <a:srgbClr val="1D1D1F"/>
                </a:solidFill>
                <a:latin typeface="Calibri"/>
              </a:rPr>
              <a:t>Nikhil Kumar</a:t>
            </a:r>
          </a:p>
        </p:txBody>
      </p:sp>
      <p:sp>
        <p:nvSpPr>
          <p:cNvPr id="108" name="TextBox 107"/>
          <p:cNvSpPr txBox="1"/>
          <p:nvPr/>
        </p:nvSpPr>
        <p:spPr>
          <a:xfrm>
            <a:off x="10881360" y="5916168"/>
            <a:ext cx="6309360" cy="77724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Team lead · data pipeline, strategy research and backtests, dashboard</a:t>
            </a:r>
          </a:p>
        </p:txBody>
      </p:sp>
      <p:sp>
        <p:nvSpPr>
          <p:cNvPr id="109" name="Oval 108"/>
          <p:cNvSpPr/>
          <p:nvPr/>
        </p:nvSpPr>
        <p:spPr>
          <a:xfrm>
            <a:off x="9921240" y="6858000"/>
            <a:ext cx="731520" cy="731520"/>
          </a:xfrm>
          <a:prstGeom prst="ellipse">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0" name="Picture 109" descr="users.png"/>
          <p:cNvPicPr>
            <a:picLocks noChangeAspect="1"/>
          </p:cNvPicPr>
          <p:nvPr/>
        </p:nvPicPr>
        <p:blipFill>
          <a:blip r:embed="rId10"/>
          <a:stretch>
            <a:fillRect/>
          </a:stretch>
        </p:blipFill>
        <p:spPr>
          <a:xfrm>
            <a:off x="10082174" y="7018934"/>
            <a:ext cx="409651" cy="409651"/>
          </a:xfrm>
          <a:prstGeom prst="rect">
            <a:avLst/>
          </a:prstGeom>
        </p:spPr>
      </p:pic>
      <p:sp>
        <p:nvSpPr>
          <p:cNvPr id="111" name="Member 2"/>
          <p:cNvSpPr txBox="1"/>
          <p:nvPr/>
        </p:nvSpPr>
        <p:spPr>
          <a:xfrm>
            <a:off x="10881360" y="6812280"/>
            <a:ext cx="6309360" cy="457200"/>
          </a:xfrm>
          <a:prstGeom prst="rect">
            <a:avLst/>
          </a:prstGeom>
          <a:noFill/>
        </p:spPr>
        <p:txBody>
          <a:bodyPr wrap="square" anchor="t" lIns="0" rIns="0" tIns="0" bIns="0">
            <a:spAutoFit/>
          </a:bodyPr>
          <a:lstStyle/>
          <a:p>
            <a:pPr algn="l">
              <a:spcAft>
                <a:spcPts val="0"/>
              </a:spcAft>
            </a:pPr>
            <a:r>
              <a:rPr sz="2800" b="1">
                <a:solidFill>
                  <a:srgbClr val="1D1D1F"/>
                </a:solidFill>
                <a:latin typeface="Calibri"/>
              </a:rPr>
              <a:t>Sai Ganesh</a:t>
            </a:r>
          </a:p>
        </p:txBody>
      </p:sp>
      <p:sp>
        <p:nvSpPr>
          <p:cNvPr id="112" name="TextBox 111"/>
          <p:cNvSpPr txBox="1"/>
          <p:nvPr/>
        </p:nvSpPr>
        <p:spPr>
          <a:xfrm>
            <a:off x="10881360" y="7287768"/>
            <a:ext cx="6309360" cy="77724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Market research and pitch presentation</a:t>
            </a:r>
          </a:p>
        </p:txBody>
      </p:sp>
      <p:sp>
        <p:nvSpPr>
          <p:cNvPr id="113" name="Oval 112"/>
          <p:cNvSpPr/>
          <p:nvPr/>
        </p:nvSpPr>
        <p:spPr>
          <a:xfrm>
            <a:off x="9921240" y="8229600"/>
            <a:ext cx="731520" cy="731520"/>
          </a:xfrm>
          <a:prstGeom prst="ellipse">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users.png"/>
          <p:cNvPicPr>
            <a:picLocks noChangeAspect="1"/>
          </p:cNvPicPr>
          <p:nvPr/>
        </p:nvPicPr>
        <p:blipFill>
          <a:blip r:embed="rId10"/>
          <a:stretch>
            <a:fillRect/>
          </a:stretch>
        </p:blipFill>
        <p:spPr>
          <a:xfrm>
            <a:off x="10082174" y="8390534"/>
            <a:ext cx="409651" cy="409651"/>
          </a:xfrm>
          <a:prstGeom prst="rect">
            <a:avLst/>
          </a:prstGeom>
        </p:spPr>
      </p:pic>
      <p:sp>
        <p:nvSpPr>
          <p:cNvPr id="115" name="Member 3"/>
          <p:cNvSpPr txBox="1"/>
          <p:nvPr/>
        </p:nvSpPr>
        <p:spPr>
          <a:xfrm>
            <a:off x="10881360" y="8183879"/>
            <a:ext cx="6309360" cy="457200"/>
          </a:xfrm>
          <a:prstGeom prst="rect">
            <a:avLst/>
          </a:prstGeom>
          <a:noFill/>
        </p:spPr>
        <p:txBody>
          <a:bodyPr wrap="square" anchor="t" lIns="0" rIns="0" tIns="0" bIns="0">
            <a:spAutoFit/>
          </a:bodyPr>
          <a:lstStyle/>
          <a:p>
            <a:pPr algn="l">
              <a:spcAft>
                <a:spcPts val="0"/>
              </a:spcAft>
            </a:pPr>
            <a:r>
              <a:rPr sz="2800" b="1">
                <a:solidFill>
                  <a:srgbClr val="1D1D1F"/>
                </a:solidFill>
                <a:latin typeface="Calibri"/>
              </a:rPr>
              <a:t>Ishaan Chhabra</a:t>
            </a:r>
          </a:p>
        </p:txBody>
      </p:sp>
      <p:sp>
        <p:nvSpPr>
          <p:cNvPr id="116" name="TextBox 115"/>
          <p:cNvSpPr txBox="1"/>
          <p:nvPr/>
        </p:nvSpPr>
        <p:spPr>
          <a:xfrm>
            <a:off x="10881360" y="8659367"/>
            <a:ext cx="6309360" cy="77724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Testing, data checks and documentation</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pic>
        <p:nvPicPr>
          <p:cNvPr id="98" name="Google Shape;98;p14" title="pptnlogo.png"/>
          <p:cNvPicPr preferRelativeResize="0"/>
          <p:nvPr/>
        </p:nvPicPr>
        <p:blipFill>
          <a:blip r:embed="rId3">
            <a:alphaModFix/>
          </a:blip>
          <a:stretch>
            <a:fillRect/>
          </a:stretch>
        </p:blipFill>
        <p:spPr>
          <a:xfrm>
            <a:off x="0" y="0"/>
            <a:ext cx="18288000" cy="1205517"/>
          </a:xfrm>
          <a:prstGeom prst="rect">
            <a:avLst/>
          </a:prstGeom>
          <a:noFill/>
          <a:ln>
            <a:noFill/>
          </a:ln>
        </p:spPr>
      </p:pic>
      <p:sp>
        <p:nvSpPr>
          <p:cNvPr id="99" name="Kicker"/>
          <p:cNvSpPr txBox="1"/>
          <p:nvPr/>
        </p:nvSpPr>
        <p:spPr>
          <a:xfrm>
            <a:off x="914400" y="1463040"/>
            <a:ext cx="1645920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PROBLEM STATEMENT &amp; THEME</a:t>
            </a:r>
          </a:p>
        </p:txBody>
      </p:sp>
      <p:sp>
        <p:nvSpPr>
          <p:cNvPr id="100" name="Title"/>
          <p:cNvSpPr txBox="1"/>
          <p:nvPr/>
        </p:nvSpPr>
        <p:spPr>
          <a:xfrm>
            <a:off x="914400" y="1828800"/>
            <a:ext cx="16459200" cy="777240"/>
          </a:xfrm>
          <a:prstGeom prst="rect">
            <a:avLst/>
          </a:prstGeom>
          <a:noFill/>
        </p:spPr>
        <p:txBody>
          <a:bodyPr wrap="square" anchor="t" lIns="0" rIns="0" tIns="0" bIns="0">
            <a:spAutoFit/>
          </a:bodyPr>
          <a:lstStyle/>
          <a:p>
            <a:pPr algn="l">
              <a:spcAft>
                <a:spcPts val="0"/>
              </a:spcAft>
            </a:pPr>
            <a:r>
              <a:rPr sz="4000" b="1">
                <a:solidFill>
                  <a:srgbClr val="1D1D1F"/>
                </a:solidFill>
                <a:latin typeface="Montserrat"/>
              </a:rPr>
              <a:t>One metal, four prices. Which one is fair?</a:t>
            </a:r>
          </a:p>
        </p:txBody>
      </p:sp>
      <p:sp>
        <p:nvSpPr>
          <p:cNvPr id="101" name="Contract GOLDM"/>
          <p:cNvSpPr/>
          <p:nvPr/>
        </p:nvSpPr>
        <p:spPr>
          <a:xfrm>
            <a:off x="914400" y="2880360"/>
            <a:ext cx="3931920" cy="278892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88720" y="306324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Montserrat"/>
              </a:rPr>
              <a:t>GOLDM</a:t>
            </a:r>
          </a:p>
        </p:txBody>
      </p:sp>
      <p:sp>
        <p:nvSpPr>
          <p:cNvPr id="103" name="TextBox 102"/>
          <p:cNvSpPr txBox="1"/>
          <p:nvPr/>
        </p:nvSpPr>
        <p:spPr>
          <a:xfrm>
            <a:off x="1188720" y="3547872"/>
            <a:ext cx="3474720" cy="365760"/>
          </a:xfrm>
          <a:prstGeom prst="rect">
            <a:avLst/>
          </a:prstGeom>
          <a:noFill/>
        </p:spPr>
        <p:txBody>
          <a:bodyPr wrap="square" anchor="t" lIns="0" rIns="0" tIns="0" bIns="0">
            <a:spAutoFit/>
          </a:bodyPr>
          <a:lstStyle/>
          <a:p>
            <a:pPr algn="l">
              <a:spcAft>
                <a:spcPts val="0"/>
              </a:spcAft>
            </a:pPr>
            <a:r>
              <a:rPr sz="1900" b="0">
                <a:solidFill>
                  <a:srgbClr val="4A4A50"/>
                </a:solidFill>
                <a:latin typeface="Calibri"/>
              </a:rPr>
              <a:t>100 g bar · 99.5% pure</a:t>
            </a:r>
          </a:p>
        </p:txBody>
      </p:sp>
      <p:sp>
        <p:nvSpPr>
          <p:cNvPr id="104" name="TextBox 103"/>
          <p:cNvSpPr txBox="1"/>
          <p:nvPr/>
        </p:nvSpPr>
        <p:spPr>
          <a:xfrm>
            <a:off x="1188720" y="402336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Calibri"/>
              </a:rPr>
              <a:t>₹1,49,055</a:t>
            </a:r>
            <a:r>
              <a:rPr sz="1900" b="0">
                <a:solidFill>
                  <a:srgbClr val="4A4A50"/>
                </a:solidFill>
                <a:latin typeface="Calibri"/>
              </a:rPr>
              <a:t>  per 10 g</a:t>
            </a:r>
          </a:p>
        </p:txBody>
      </p:sp>
      <p:sp>
        <p:nvSpPr>
          <p:cNvPr id="105" name="Rounded Rectangle 104"/>
          <p:cNvSpPr/>
          <p:nvPr/>
        </p:nvSpPr>
        <p:spPr>
          <a:xfrm>
            <a:off x="1188720" y="4681728"/>
            <a:ext cx="3383280" cy="777240"/>
          </a:xfrm>
          <a:prstGeom prst="roundRect">
            <a:avLst>
              <a:gd name="adj" fmla="val 20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25880" y="4681728"/>
            <a:ext cx="3200400" cy="777240"/>
          </a:xfrm>
          <a:prstGeom prst="rect">
            <a:avLst/>
          </a:prstGeom>
          <a:noFill/>
        </p:spPr>
        <p:txBody>
          <a:bodyPr wrap="square" anchor="ctr" lIns="0" rIns="0" tIns="0" bIns="0">
            <a:spAutoFit/>
          </a:bodyPr>
          <a:lstStyle/>
          <a:p>
            <a:pPr algn="l">
              <a:spcAft>
                <a:spcPts val="0"/>
              </a:spcAft>
            </a:pPr>
            <a:r>
              <a:rPr sz="2800" b="1">
                <a:solidFill>
                  <a:srgbClr val="835A07"/>
                </a:solidFill>
                <a:latin typeface="Calibri"/>
              </a:rPr>
              <a:t>₹14,980</a:t>
            </a:r>
            <a:r>
              <a:rPr sz="1900" b="0">
                <a:solidFill>
                  <a:srgbClr val="4A4A50"/>
                </a:solidFill>
                <a:latin typeface="Calibri"/>
              </a:rPr>
              <a:t> per pure g</a:t>
            </a:r>
          </a:p>
        </p:txBody>
      </p:sp>
      <p:sp>
        <p:nvSpPr>
          <p:cNvPr id="107" name="Contract GOLDTEN"/>
          <p:cNvSpPr/>
          <p:nvPr/>
        </p:nvSpPr>
        <p:spPr>
          <a:xfrm>
            <a:off x="5074920" y="2880360"/>
            <a:ext cx="3931920" cy="278892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5349240" y="306324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Montserrat"/>
              </a:rPr>
              <a:t>GOLDTEN</a:t>
            </a:r>
          </a:p>
        </p:txBody>
      </p:sp>
      <p:sp>
        <p:nvSpPr>
          <p:cNvPr id="109" name="TextBox 108"/>
          <p:cNvSpPr txBox="1"/>
          <p:nvPr/>
        </p:nvSpPr>
        <p:spPr>
          <a:xfrm>
            <a:off x="5349240" y="3547872"/>
            <a:ext cx="3474720" cy="365760"/>
          </a:xfrm>
          <a:prstGeom prst="rect">
            <a:avLst/>
          </a:prstGeom>
          <a:noFill/>
        </p:spPr>
        <p:txBody>
          <a:bodyPr wrap="square" anchor="t" lIns="0" rIns="0" tIns="0" bIns="0">
            <a:spAutoFit/>
          </a:bodyPr>
          <a:lstStyle/>
          <a:p>
            <a:pPr algn="l">
              <a:spcAft>
                <a:spcPts val="0"/>
              </a:spcAft>
            </a:pPr>
            <a:r>
              <a:rPr sz="1900" b="0">
                <a:solidFill>
                  <a:srgbClr val="4A4A50"/>
                </a:solidFill>
                <a:latin typeface="Calibri"/>
              </a:rPr>
              <a:t>10 g bar · 99.9% pure</a:t>
            </a:r>
          </a:p>
        </p:txBody>
      </p:sp>
      <p:sp>
        <p:nvSpPr>
          <p:cNvPr id="110" name="TextBox 109"/>
          <p:cNvSpPr txBox="1"/>
          <p:nvPr/>
        </p:nvSpPr>
        <p:spPr>
          <a:xfrm>
            <a:off x="5349240" y="402336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Calibri"/>
              </a:rPr>
              <a:t>₹1,49,436</a:t>
            </a:r>
            <a:r>
              <a:rPr sz="1900" b="0">
                <a:solidFill>
                  <a:srgbClr val="4A4A50"/>
                </a:solidFill>
                <a:latin typeface="Calibri"/>
              </a:rPr>
              <a:t>  per 10 g</a:t>
            </a:r>
          </a:p>
        </p:txBody>
      </p:sp>
      <p:sp>
        <p:nvSpPr>
          <p:cNvPr id="111" name="Rounded Rectangle 110"/>
          <p:cNvSpPr/>
          <p:nvPr/>
        </p:nvSpPr>
        <p:spPr>
          <a:xfrm>
            <a:off x="5349240" y="4681728"/>
            <a:ext cx="3383280" cy="777240"/>
          </a:xfrm>
          <a:prstGeom prst="roundRect">
            <a:avLst>
              <a:gd name="adj" fmla="val 20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486400" y="4681728"/>
            <a:ext cx="3200400" cy="777240"/>
          </a:xfrm>
          <a:prstGeom prst="rect">
            <a:avLst/>
          </a:prstGeom>
          <a:noFill/>
        </p:spPr>
        <p:txBody>
          <a:bodyPr wrap="square" anchor="ctr" lIns="0" rIns="0" tIns="0" bIns="0">
            <a:spAutoFit/>
          </a:bodyPr>
          <a:lstStyle/>
          <a:p>
            <a:pPr algn="l">
              <a:spcAft>
                <a:spcPts val="0"/>
              </a:spcAft>
            </a:pPr>
            <a:r>
              <a:rPr sz="2800" b="1">
                <a:solidFill>
                  <a:srgbClr val="835A07"/>
                </a:solidFill>
                <a:latin typeface="Calibri"/>
              </a:rPr>
              <a:t>₹14,959</a:t>
            </a:r>
            <a:r>
              <a:rPr sz="1900" b="0">
                <a:solidFill>
                  <a:srgbClr val="4A4A50"/>
                </a:solidFill>
                <a:latin typeface="Calibri"/>
              </a:rPr>
              <a:t> per pure g</a:t>
            </a:r>
          </a:p>
        </p:txBody>
      </p:sp>
      <p:sp>
        <p:nvSpPr>
          <p:cNvPr id="113" name="Contract GOLDGUINEA"/>
          <p:cNvSpPr/>
          <p:nvPr/>
        </p:nvSpPr>
        <p:spPr>
          <a:xfrm>
            <a:off x="9235440" y="2880360"/>
            <a:ext cx="3931920" cy="278892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9509760" y="306324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Montserrat"/>
              </a:rPr>
              <a:t>GOLDGUINEA</a:t>
            </a:r>
          </a:p>
        </p:txBody>
      </p:sp>
      <p:sp>
        <p:nvSpPr>
          <p:cNvPr id="115" name="TextBox 114"/>
          <p:cNvSpPr txBox="1"/>
          <p:nvPr/>
        </p:nvSpPr>
        <p:spPr>
          <a:xfrm>
            <a:off x="9509760" y="3547872"/>
            <a:ext cx="3474720" cy="365760"/>
          </a:xfrm>
          <a:prstGeom prst="rect">
            <a:avLst/>
          </a:prstGeom>
          <a:noFill/>
        </p:spPr>
        <p:txBody>
          <a:bodyPr wrap="square" anchor="t" lIns="0" rIns="0" tIns="0" bIns="0">
            <a:spAutoFit/>
          </a:bodyPr>
          <a:lstStyle/>
          <a:p>
            <a:pPr algn="l">
              <a:spcAft>
                <a:spcPts val="0"/>
              </a:spcAft>
            </a:pPr>
            <a:r>
              <a:rPr sz="1900" b="0">
                <a:solidFill>
                  <a:srgbClr val="4A4A50"/>
                </a:solidFill>
                <a:latin typeface="Calibri"/>
              </a:rPr>
              <a:t>8 g coin · 99.9% pure</a:t>
            </a:r>
          </a:p>
        </p:txBody>
      </p:sp>
      <p:sp>
        <p:nvSpPr>
          <p:cNvPr id="116" name="TextBox 115"/>
          <p:cNvSpPr txBox="1"/>
          <p:nvPr/>
        </p:nvSpPr>
        <p:spPr>
          <a:xfrm>
            <a:off x="9509760" y="402336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Calibri"/>
              </a:rPr>
              <a:t>₹1,19,993</a:t>
            </a:r>
            <a:r>
              <a:rPr sz="1900" b="0">
                <a:solidFill>
                  <a:srgbClr val="4A4A50"/>
                </a:solidFill>
                <a:latin typeface="Calibri"/>
              </a:rPr>
              <a:t>  per 8 g</a:t>
            </a:r>
          </a:p>
        </p:txBody>
      </p:sp>
      <p:sp>
        <p:nvSpPr>
          <p:cNvPr id="117" name="Rounded Rectangle 116"/>
          <p:cNvSpPr/>
          <p:nvPr/>
        </p:nvSpPr>
        <p:spPr>
          <a:xfrm>
            <a:off x="9509760" y="4681728"/>
            <a:ext cx="3383280" cy="777240"/>
          </a:xfrm>
          <a:prstGeom prst="roundRect">
            <a:avLst>
              <a:gd name="adj" fmla="val 20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9646919" y="4681728"/>
            <a:ext cx="3200400" cy="777240"/>
          </a:xfrm>
          <a:prstGeom prst="rect">
            <a:avLst/>
          </a:prstGeom>
          <a:noFill/>
        </p:spPr>
        <p:txBody>
          <a:bodyPr wrap="square" anchor="ctr" lIns="0" rIns="0" tIns="0" bIns="0">
            <a:spAutoFit/>
          </a:bodyPr>
          <a:lstStyle/>
          <a:p>
            <a:pPr algn="l">
              <a:spcAft>
                <a:spcPts val="0"/>
              </a:spcAft>
            </a:pPr>
            <a:r>
              <a:rPr sz="2800" b="1">
                <a:solidFill>
                  <a:srgbClr val="835A07"/>
                </a:solidFill>
                <a:latin typeface="Calibri"/>
              </a:rPr>
              <a:t>₹15,014</a:t>
            </a:r>
            <a:r>
              <a:rPr sz="1900" b="0">
                <a:solidFill>
                  <a:srgbClr val="4A4A50"/>
                </a:solidFill>
                <a:latin typeface="Calibri"/>
              </a:rPr>
              <a:t> per pure g</a:t>
            </a:r>
          </a:p>
        </p:txBody>
      </p:sp>
      <p:sp>
        <p:nvSpPr>
          <p:cNvPr id="119" name="Contract GOLDPETAL"/>
          <p:cNvSpPr/>
          <p:nvPr/>
        </p:nvSpPr>
        <p:spPr>
          <a:xfrm>
            <a:off x="13395959" y="2880360"/>
            <a:ext cx="3931920" cy="278892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3670280" y="306324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Montserrat"/>
              </a:rPr>
              <a:t>GOLDPETAL</a:t>
            </a:r>
          </a:p>
        </p:txBody>
      </p:sp>
      <p:sp>
        <p:nvSpPr>
          <p:cNvPr id="121" name="TextBox 120"/>
          <p:cNvSpPr txBox="1"/>
          <p:nvPr/>
        </p:nvSpPr>
        <p:spPr>
          <a:xfrm>
            <a:off x="13670280" y="3547872"/>
            <a:ext cx="3474720" cy="365760"/>
          </a:xfrm>
          <a:prstGeom prst="rect">
            <a:avLst/>
          </a:prstGeom>
          <a:noFill/>
        </p:spPr>
        <p:txBody>
          <a:bodyPr wrap="square" anchor="t" lIns="0" rIns="0" tIns="0" bIns="0">
            <a:spAutoFit/>
          </a:bodyPr>
          <a:lstStyle/>
          <a:p>
            <a:pPr algn="l">
              <a:spcAft>
                <a:spcPts val="0"/>
              </a:spcAft>
            </a:pPr>
            <a:r>
              <a:rPr sz="1900" b="0">
                <a:solidFill>
                  <a:srgbClr val="4A4A50"/>
                </a:solidFill>
                <a:latin typeface="Calibri"/>
              </a:rPr>
              <a:t>1 g · 99.9% pure</a:t>
            </a:r>
          </a:p>
        </p:txBody>
      </p:sp>
      <p:sp>
        <p:nvSpPr>
          <p:cNvPr id="122" name="TextBox 121"/>
          <p:cNvSpPr txBox="1"/>
          <p:nvPr/>
        </p:nvSpPr>
        <p:spPr>
          <a:xfrm>
            <a:off x="13670280" y="4023360"/>
            <a:ext cx="3474720" cy="457200"/>
          </a:xfrm>
          <a:prstGeom prst="rect">
            <a:avLst/>
          </a:prstGeom>
          <a:noFill/>
        </p:spPr>
        <p:txBody>
          <a:bodyPr wrap="square" anchor="t" lIns="0" rIns="0" tIns="0" bIns="0">
            <a:spAutoFit/>
          </a:bodyPr>
          <a:lstStyle/>
          <a:p>
            <a:pPr algn="l">
              <a:spcAft>
                <a:spcPts val="0"/>
              </a:spcAft>
            </a:pPr>
            <a:r>
              <a:rPr sz="2600" b="1">
                <a:solidFill>
                  <a:srgbClr val="1D1D1F"/>
                </a:solidFill>
                <a:latin typeface="Calibri"/>
              </a:rPr>
              <a:t>₹15,002</a:t>
            </a:r>
            <a:r>
              <a:rPr sz="1900" b="0">
                <a:solidFill>
                  <a:srgbClr val="4A4A50"/>
                </a:solidFill>
                <a:latin typeface="Calibri"/>
              </a:rPr>
              <a:t>  per 1 g</a:t>
            </a:r>
          </a:p>
        </p:txBody>
      </p:sp>
      <p:sp>
        <p:nvSpPr>
          <p:cNvPr id="123" name="Rounded Rectangle 122"/>
          <p:cNvSpPr/>
          <p:nvPr/>
        </p:nvSpPr>
        <p:spPr>
          <a:xfrm>
            <a:off x="13670280" y="4681728"/>
            <a:ext cx="3383280" cy="777240"/>
          </a:xfrm>
          <a:prstGeom prst="roundRect">
            <a:avLst>
              <a:gd name="adj" fmla="val 20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807439" y="4681728"/>
            <a:ext cx="3200400" cy="777240"/>
          </a:xfrm>
          <a:prstGeom prst="rect">
            <a:avLst/>
          </a:prstGeom>
          <a:noFill/>
        </p:spPr>
        <p:txBody>
          <a:bodyPr wrap="square" anchor="ctr" lIns="0" rIns="0" tIns="0" bIns="0">
            <a:spAutoFit/>
          </a:bodyPr>
          <a:lstStyle/>
          <a:p>
            <a:pPr algn="l">
              <a:spcAft>
                <a:spcPts val="0"/>
              </a:spcAft>
            </a:pPr>
            <a:r>
              <a:rPr sz="2800" b="1">
                <a:solidFill>
                  <a:srgbClr val="835A07"/>
                </a:solidFill>
                <a:latin typeface="Calibri"/>
              </a:rPr>
              <a:t>₹15,017</a:t>
            </a:r>
            <a:r>
              <a:rPr sz="1900" b="0">
                <a:solidFill>
                  <a:srgbClr val="4A4A50"/>
                </a:solidFill>
                <a:latin typeface="Calibri"/>
              </a:rPr>
              <a:t> per pure g</a:t>
            </a:r>
          </a:p>
        </p:txBody>
      </p:sp>
      <p:sp>
        <p:nvSpPr>
          <p:cNvPr id="125" name="TextBox 124"/>
          <p:cNvSpPr txBox="1"/>
          <p:nvPr/>
        </p:nvSpPr>
        <p:spPr>
          <a:xfrm>
            <a:off x="914400" y="5806440"/>
            <a:ext cx="16459200" cy="365760"/>
          </a:xfrm>
          <a:prstGeom prst="rect">
            <a:avLst/>
          </a:prstGeom>
          <a:noFill/>
        </p:spPr>
        <p:txBody>
          <a:bodyPr wrap="square" anchor="t" lIns="0" rIns="0" tIns="0" bIns="0">
            <a:spAutoFit/>
          </a:bodyPr>
          <a:lstStyle/>
          <a:p>
            <a:pPr algn="l">
              <a:spcAft>
                <a:spcPts val="0"/>
              </a:spcAft>
            </a:pPr>
            <a:r>
              <a:rPr sz="1700" b="0">
                <a:solidFill>
                  <a:srgbClr val="4A4A50"/>
                </a:solidFill>
                <a:latin typeface="Calibri"/>
              </a:rPr>
              <a:t>Most traded contract of each type, MCX closing prices, 1 October 2026. Different quotes, nearly the same gold price.</a:t>
            </a:r>
          </a:p>
        </p:txBody>
      </p:sp>
      <p:sp>
        <p:nvSpPr>
          <p:cNvPr id="126" name="Problem"/>
          <p:cNvSpPr/>
          <p:nvPr/>
        </p:nvSpPr>
        <p:spPr>
          <a:xfrm>
            <a:off x="914400" y="6355080"/>
            <a:ext cx="5303520" cy="292608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88720" y="6583680"/>
            <a:ext cx="658368" cy="65836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8" name="Picture 127" descr="search_w.png"/>
          <p:cNvPicPr>
            <a:picLocks noChangeAspect="1"/>
          </p:cNvPicPr>
          <p:nvPr/>
        </p:nvPicPr>
        <p:blipFill>
          <a:blip r:embed="rId4"/>
          <a:stretch>
            <a:fillRect/>
          </a:stretch>
        </p:blipFill>
        <p:spPr>
          <a:xfrm>
            <a:off x="1333560" y="6728520"/>
            <a:ext cx="368686" cy="368686"/>
          </a:xfrm>
          <a:prstGeom prst="rect">
            <a:avLst/>
          </a:prstGeom>
        </p:spPr>
      </p:pic>
      <p:sp>
        <p:nvSpPr>
          <p:cNvPr id="129" name="TextBox 128"/>
          <p:cNvSpPr txBox="1"/>
          <p:nvPr/>
        </p:nvSpPr>
        <p:spPr>
          <a:xfrm>
            <a:off x="2011680" y="6583680"/>
            <a:ext cx="4023360" cy="658368"/>
          </a:xfrm>
          <a:prstGeom prst="rect">
            <a:avLst/>
          </a:prstGeom>
          <a:noFill/>
        </p:spPr>
        <p:txBody>
          <a:bodyPr wrap="square" anchor="ctr" lIns="0" rIns="0" tIns="0" bIns="0">
            <a:spAutoFit/>
          </a:bodyPr>
          <a:lstStyle/>
          <a:p>
            <a:pPr algn="l">
              <a:spcAft>
                <a:spcPts val="0"/>
              </a:spcAft>
            </a:pPr>
            <a:r>
              <a:rPr sz="2000" b="1">
                <a:solidFill>
                  <a:srgbClr val="835A07"/>
                </a:solidFill>
                <a:latin typeface="Montserrat"/>
              </a:rPr>
              <a:t>PROBLEM</a:t>
            </a:r>
          </a:p>
        </p:txBody>
      </p:sp>
      <p:sp>
        <p:nvSpPr>
          <p:cNvPr id="130" name="TextBox 129"/>
          <p:cNvSpPr txBox="1"/>
          <p:nvPr/>
        </p:nvSpPr>
        <p:spPr>
          <a:xfrm>
            <a:off x="1188720" y="7452360"/>
            <a:ext cx="4800600" cy="2286000"/>
          </a:xfrm>
          <a:prstGeom prst="rect">
            <a:avLst/>
          </a:prstGeom>
          <a:noFill/>
        </p:spPr>
        <p:txBody>
          <a:bodyPr wrap="square" anchor="t" lIns="0" rIns="0" tIns="0" bIns="0">
            <a:spAutoFit/>
          </a:bodyPr>
          <a:lstStyle/>
          <a:p>
            <a:pPr algn="l" marL="292608" indent="-292608">
              <a:spcAft>
                <a:spcPts val="800"/>
              </a:spcAft>
              <a:buClr>
                <a:srgbClr val="835A07"/>
              </a:buClr>
              <a:buChar char="•"/>
            </a:pPr>
            <a:r>
              <a:rPr sz="2000" b="0">
                <a:solidFill>
                  <a:srgbClr val="1D1D1F"/>
                </a:solidFill>
                <a:latin typeface="Calibri"/>
              </a:rPr>
              <a:t>Quotes differ by size and purity, so they cannot be compared at a glance</a:t>
            </a:r>
          </a:p>
          <a:p>
            <a:pPr algn="l" marL="292608" indent="-292608">
              <a:spcAft>
                <a:spcPts val="800"/>
              </a:spcAft>
              <a:buClr>
                <a:srgbClr val="835A07"/>
              </a:buClr>
              <a:buChar char="•"/>
            </a:pPr>
            <a:r>
              <a:rPr sz="2000" b="0">
                <a:solidFill>
                  <a:srgbClr val="1D1D1F"/>
                </a:solidFill>
                <a:latin typeface="Calibri"/>
              </a:rPr>
              <a:t>Is a price gap real, or just a unit mix-up?</a:t>
            </a:r>
          </a:p>
        </p:txBody>
      </p:sp>
      <p:sp>
        <p:nvSpPr>
          <p:cNvPr id="131" name="Impact"/>
          <p:cNvSpPr/>
          <p:nvPr/>
        </p:nvSpPr>
        <p:spPr>
          <a:xfrm>
            <a:off x="6464808" y="6355080"/>
            <a:ext cx="5303520" cy="292608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6739128" y="6583680"/>
            <a:ext cx="658368" cy="65836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3" name="Picture 132" descr="activity_w.png"/>
          <p:cNvPicPr>
            <a:picLocks noChangeAspect="1"/>
          </p:cNvPicPr>
          <p:nvPr/>
        </p:nvPicPr>
        <p:blipFill>
          <a:blip r:embed="rId5"/>
          <a:stretch>
            <a:fillRect/>
          </a:stretch>
        </p:blipFill>
        <p:spPr>
          <a:xfrm>
            <a:off x="6883968" y="6728520"/>
            <a:ext cx="368686" cy="368686"/>
          </a:xfrm>
          <a:prstGeom prst="rect">
            <a:avLst/>
          </a:prstGeom>
        </p:spPr>
      </p:pic>
      <p:sp>
        <p:nvSpPr>
          <p:cNvPr id="134" name="TextBox 133"/>
          <p:cNvSpPr txBox="1"/>
          <p:nvPr/>
        </p:nvSpPr>
        <p:spPr>
          <a:xfrm>
            <a:off x="7562088" y="6583680"/>
            <a:ext cx="4023360" cy="658368"/>
          </a:xfrm>
          <a:prstGeom prst="rect">
            <a:avLst/>
          </a:prstGeom>
          <a:noFill/>
        </p:spPr>
        <p:txBody>
          <a:bodyPr wrap="square" anchor="ctr" lIns="0" rIns="0" tIns="0" bIns="0">
            <a:spAutoFit/>
          </a:bodyPr>
          <a:lstStyle/>
          <a:p>
            <a:pPr algn="l">
              <a:spcAft>
                <a:spcPts val="0"/>
              </a:spcAft>
            </a:pPr>
            <a:r>
              <a:rPr sz="2000" b="1">
                <a:solidFill>
                  <a:srgbClr val="835A07"/>
                </a:solidFill>
                <a:latin typeface="Montserrat"/>
              </a:rPr>
              <a:t>IMPACT</a:t>
            </a:r>
          </a:p>
        </p:txBody>
      </p:sp>
      <p:sp>
        <p:nvSpPr>
          <p:cNvPr id="135" name="TextBox 134"/>
          <p:cNvSpPr txBox="1"/>
          <p:nvPr/>
        </p:nvSpPr>
        <p:spPr>
          <a:xfrm>
            <a:off x="6739128" y="7452360"/>
            <a:ext cx="4800600" cy="2286000"/>
          </a:xfrm>
          <a:prstGeom prst="rect">
            <a:avLst/>
          </a:prstGeom>
          <a:noFill/>
        </p:spPr>
        <p:txBody>
          <a:bodyPr wrap="square" anchor="t" lIns="0" rIns="0" tIns="0" bIns="0">
            <a:spAutoFit/>
          </a:bodyPr>
          <a:lstStyle/>
          <a:p>
            <a:pPr algn="l" marL="292608" indent="-292608">
              <a:spcAft>
                <a:spcPts val="800"/>
              </a:spcAft>
              <a:buClr>
                <a:srgbClr val="835A07"/>
              </a:buClr>
              <a:buChar char="•"/>
            </a:pPr>
            <a:r>
              <a:rPr sz="2000" b="0">
                <a:solidFill>
                  <a:srgbClr val="1D1D1F"/>
                </a:solidFill>
                <a:latin typeface="Calibri"/>
              </a:rPr>
              <a:t>The 8 g coin costs 0.6–0.7% more per gram, in all 41 contract months since late 2023</a:t>
            </a:r>
          </a:p>
          <a:p>
            <a:pPr algn="l" marL="292608" indent="-292608">
              <a:spcAft>
                <a:spcPts val="800"/>
              </a:spcAft>
              <a:buClr>
                <a:srgbClr val="835A07"/>
              </a:buClr>
              <a:buChar char="•"/>
            </a:pPr>
            <a:r>
              <a:rPr sz="2000" b="0">
                <a:solidFill>
                  <a:srgbClr val="1D1D1F"/>
                </a:solidFill>
                <a:latin typeface="Calibri"/>
              </a:rPr>
              <a:t>In the 2026 gold crash, small contracts sat 2.7% above GOLDM</a:t>
            </a:r>
          </a:p>
        </p:txBody>
      </p:sp>
      <p:sp>
        <p:nvSpPr>
          <p:cNvPr id="136" name="Theme alignment"/>
          <p:cNvSpPr/>
          <p:nvPr/>
        </p:nvSpPr>
        <p:spPr>
          <a:xfrm>
            <a:off x="12015216" y="6355080"/>
            <a:ext cx="5303520" cy="2926080"/>
          </a:xfrm>
          <a:prstGeom prst="roundRect">
            <a:avLst>
              <a:gd name="adj" fmla="val 5000"/>
            </a:avLst>
          </a:prstGeom>
          <a:solidFill>
            <a:srgbClr val="FBF4E4"/>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12289536" y="6583680"/>
            <a:ext cx="658368" cy="65836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8" name="Picture 137" descr="target_w.png"/>
          <p:cNvPicPr>
            <a:picLocks noChangeAspect="1"/>
          </p:cNvPicPr>
          <p:nvPr/>
        </p:nvPicPr>
        <p:blipFill>
          <a:blip r:embed="rId6"/>
          <a:stretch>
            <a:fillRect/>
          </a:stretch>
        </p:blipFill>
        <p:spPr>
          <a:xfrm>
            <a:off x="12434376" y="6728520"/>
            <a:ext cx="368686" cy="368686"/>
          </a:xfrm>
          <a:prstGeom prst="rect">
            <a:avLst/>
          </a:prstGeom>
        </p:spPr>
      </p:pic>
      <p:sp>
        <p:nvSpPr>
          <p:cNvPr id="139" name="TextBox 138"/>
          <p:cNvSpPr txBox="1"/>
          <p:nvPr/>
        </p:nvSpPr>
        <p:spPr>
          <a:xfrm>
            <a:off x="13112496" y="6583680"/>
            <a:ext cx="4023360" cy="658368"/>
          </a:xfrm>
          <a:prstGeom prst="rect">
            <a:avLst/>
          </a:prstGeom>
          <a:noFill/>
        </p:spPr>
        <p:txBody>
          <a:bodyPr wrap="square" anchor="ctr" lIns="0" rIns="0" tIns="0" bIns="0">
            <a:spAutoFit/>
          </a:bodyPr>
          <a:lstStyle/>
          <a:p>
            <a:pPr algn="l">
              <a:spcAft>
                <a:spcPts val="0"/>
              </a:spcAft>
            </a:pPr>
            <a:r>
              <a:rPr sz="2000" b="1">
                <a:solidFill>
                  <a:srgbClr val="835A07"/>
                </a:solidFill>
                <a:latin typeface="Montserrat"/>
              </a:rPr>
              <a:t>THEME ALIGNMENT</a:t>
            </a:r>
          </a:p>
        </p:txBody>
      </p:sp>
      <p:sp>
        <p:nvSpPr>
          <p:cNvPr id="140" name="TextBox 139"/>
          <p:cNvSpPr txBox="1"/>
          <p:nvPr/>
        </p:nvSpPr>
        <p:spPr>
          <a:xfrm>
            <a:off x="12289536" y="7452360"/>
            <a:ext cx="4800600" cy="2286000"/>
          </a:xfrm>
          <a:prstGeom prst="rect">
            <a:avLst/>
          </a:prstGeom>
          <a:noFill/>
        </p:spPr>
        <p:txBody>
          <a:bodyPr wrap="square" anchor="t" lIns="0" rIns="0" tIns="0" bIns="0">
            <a:spAutoFit/>
          </a:bodyPr>
          <a:lstStyle/>
          <a:p>
            <a:pPr algn="l" marL="292608" indent="-292608">
              <a:spcAft>
                <a:spcPts val="800"/>
              </a:spcAft>
              <a:buClr>
                <a:srgbClr val="835A07"/>
              </a:buClr>
              <a:buChar char="•"/>
            </a:pPr>
            <a:r>
              <a:rPr sz="2000" b="0">
                <a:solidFill>
                  <a:srgbClr val="1D1D1F"/>
                </a:solidFill>
                <a:latin typeface="Calibri"/>
              </a:rPr>
              <a:t>Problem 03: Commodity Derivatives Intelligence</a:t>
            </a:r>
          </a:p>
          <a:p>
            <a:pPr algn="l" marL="292608" indent="-292608">
              <a:spcAft>
                <a:spcPts val="800"/>
              </a:spcAft>
              <a:buClr>
                <a:srgbClr val="835A07"/>
              </a:buClr>
              <a:buChar char="•"/>
            </a:pPr>
            <a:r>
              <a:rPr sz="2000" b="0">
                <a:solidFill>
                  <a:srgbClr val="1D1D1F"/>
                </a:solidFill>
                <a:latin typeface="Calibri"/>
              </a:rPr>
              <a:t>Covers fair value, futures curve, backtest, alerts and contract calendar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pic>
        <p:nvPicPr>
          <p:cNvPr id="107" name="Google Shape;107;p15" title="pptnlogo.png"/>
          <p:cNvPicPr preferRelativeResize="0"/>
          <p:nvPr/>
        </p:nvPicPr>
        <p:blipFill>
          <a:blip r:embed="rId3">
            <a:alphaModFix/>
          </a:blip>
          <a:stretch>
            <a:fillRect/>
          </a:stretch>
        </p:blipFill>
        <p:spPr>
          <a:xfrm>
            <a:off x="0" y="0"/>
            <a:ext cx="18288000" cy="1205517"/>
          </a:xfrm>
          <a:prstGeom prst="rect">
            <a:avLst/>
          </a:prstGeom>
          <a:noFill/>
          <a:ln>
            <a:noFill/>
          </a:ln>
        </p:spPr>
      </p:pic>
      <p:sp>
        <p:nvSpPr>
          <p:cNvPr id="108" name="Kicker"/>
          <p:cNvSpPr txBox="1"/>
          <p:nvPr/>
        </p:nvSpPr>
        <p:spPr>
          <a:xfrm>
            <a:off x="914400" y="1463040"/>
            <a:ext cx="1645920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SOLUTION</a:t>
            </a:r>
          </a:p>
        </p:txBody>
      </p:sp>
      <p:sp>
        <p:nvSpPr>
          <p:cNvPr id="109" name="Title"/>
          <p:cNvSpPr txBox="1"/>
          <p:nvPr/>
        </p:nvSpPr>
        <p:spPr>
          <a:xfrm>
            <a:off x="914400" y="1828800"/>
            <a:ext cx="16459200" cy="777240"/>
          </a:xfrm>
          <a:prstGeom prst="rect">
            <a:avLst/>
          </a:prstGeom>
          <a:noFill/>
        </p:spPr>
        <p:txBody>
          <a:bodyPr wrap="square" anchor="t" lIns="0" rIns="0" tIns="0" bIns="0">
            <a:spAutoFit/>
          </a:bodyPr>
          <a:lstStyle/>
          <a:p>
            <a:pPr algn="l">
              <a:spcAft>
                <a:spcPts val="0"/>
              </a:spcAft>
            </a:pPr>
            <a:r>
              <a:rPr sz="4000" b="1">
                <a:solidFill>
                  <a:srgbClr val="1D1D1F"/>
                </a:solidFill>
                <a:latin typeface="Montserrat"/>
              </a:rPr>
              <a:t>Parity tells a trader when a price gap is real</a:t>
            </a:r>
          </a:p>
        </p:txBody>
      </p:sp>
      <p:pic>
        <p:nvPicPr>
          <p:cNvPr id="110" name="Dashboard screenshot" descr="dash-overview.png"/>
          <p:cNvPicPr>
            <a:picLocks noChangeAspect="1"/>
          </p:cNvPicPr>
          <p:nvPr/>
        </p:nvPicPr>
        <p:blipFill>
          <a:blip r:embed="rId4"/>
          <a:stretch>
            <a:fillRect/>
          </a:stretch>
        </p:blipFill>
        <p:spPr>
          <a:xfrm>
            <a:off x="914400" y="2880360"/>
            <a:ext cx="9692640" cy="6057900"/>
          </a:xfrm>
          <a:prstGeom prst="rect">
            <a:avLst/>
          </a:prstGeom>
          <a:ln w="19050">
            <a:solidFill>
              <a:srgbClr val="DDD6C8"/>
            </a:solidFill>
          </a:ln>
        </p:spPr>
      </p:pic>
      <p:sp>
        <p:nvSpPr>
          <p:cNvPr id="111" name="Prototype badge"/>
          <p:cNvSpPr/>
          <p:nvPr/>
        </p:nvSpPr>
        <p:spPr>
          <a:xfrm>
            <a:off x="914400" y="9098280"/>
            <a:ext cx="3246120" cy="548640"/>
          </a:xfrm>
          <a:prstGeom prst="roundRect">
            <a:avLst>
              <a:gd name="adj" fmla="val 50000"/>
            </a:avLst>
          </a:prstGeom>
          <a:solidFill>
            <a:srgbClr val="14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14400" y="9098280"/>
            <a:ext cx="3246120" cy="548640"/>
          </a:xfrm>
          <a:prstGeom prst="rect">
            <a:avLst/>
          </a:prstGeom>
          <a:noFill/>
        </p:spPr>
        <p:txBody>
          <a:bodyPr wrap="square" anchor="ctr" lIns="0" rIns="0" tIns="0" bIns="0">
            <a:spAutoFit/>
          </a:bodyPr>
          <a:lstStyle/>
          <a:p>
            <a:pPr algn="ctr">
              <a:spcAft>
                <a:spcPts val="0"/>
              </a:spcAft>
            </a:pPr>
            <a:r>
              <a:rPr sz="1700" b="1">
                <a:solidFill>
                  <a:srgbClr val="FFFFFF"/>
                </a:solidFill>
                <a:latin typeface="Montserrat"/>
              </a:rPr>
              <a:t>WORKING PROTOTYPE</a:t>
            </a:r>
          </a:p>
        </p:txBody>
      </p:sp>
      <p:sp>
        <p:nvSpPr>
          <p:cNvPr id="113" name="TextBox 112"/>
          <p:cNvSpPr txBox="1"/>
          <p:nvPr/>
        </p:nvSpPr>
        <p:spPr>
          <a:xfrm>
            <a:off x="4389120" y="9098280"/>
            <a:ext cx="6217920" cy="548640"/>
          </a:xfrm>
          <a:prstGeom prst="rect">
            <a:avLst/>
          </a:prstGeom>
          <a:noFill/>
        </p:spPr>
        <p:txBody>
          <a:bodyPr wrap="square" anchor="ctr" lIns="0" rIns="0" tIns="0" bIns="0">
            <a:spAutoFit/>
          </a:bodyPr>
          <a:lstStyle/>
          <a:p>
            <a:pPr algn="l">
              <a:spcAft>
                <a:spcPts val="0"/>
              </a:spcAft>
            </a:pPr>
            <a:r>
              <a:rPr sz="1700" b="0">
                <a:solidFill>
                  <a:srgbClr val="4A4A50"/>
                </a:solidFill>
                <a:latin typeface="Calibri"/>
              </a:rPr>
              <a:t>8 pages, search and downloads, runs offline as one file</a:t>
            </a:r>
          </a:p>
        </p:txBody>
      </p:sp>
      <p:sp>
        <p:nvSpPr>
          <p:cNvPr id="114" name="Oval 113"/>
          <p:cNvSpPr/>
          <p:nvPr/>
        </p:nvSpPr>
        <p:spPr>
          <a:xfrm>
            <a:off x="11064240" y="2926079"/>
            <a:ext cx="731520" cy="73152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5" name="Picture 114" descr="scale_w.png"/>
          <p:cNvPicPr>
            <a:picLocks noChangeAspect="1"/>
          </p:cNvPicPr>
          <p:nvPr/>
        </p:nvPicPr>
        <p:blipFill>
          <a:blip r:embed="rId5"/>
          <a:stretch>
            <a:fillRect/>
          </a:stretch>
        </p:blipFill>
        <p:spPr>
          <a:xfrm>
            <a:off x="11225174" y="3087014"/>
            <a:ext cx="409651" cy="409651"/>
          </a:xfrm>
          <a:prstGeom prst="rect">
            <a:avLst/>
          </a:prstGeom>
        </p:spPr>
      </p:pic>
      <p:sp>
        <p:nvSpPr>
          <p:cNvPr id="116" name="TextBox 115"/>
          <p:cNvSpPr txBox="1"/>
          <p:nvPr/>
        </p:nvSpPr>
        <p:spPr>
          <a:xfrm>
            <a:off x="12024360" y="2880360"/>
            <a:ext cx="5349240" cy="1143000"/>
          </a:xfrm>
          <a:prstGeom prst="rect">
            <a:avLst/>
          </a:prstGeom>
          <a:noFill/>
        </p:spPr>
        <p:txBody>
          <a:bodyPr wrap="square" anchor="t" lIns="0" rIns="0" tIns="0" bIns="0">
            <a:spAutoFit/>
          </a:bodyPr>
          <a:lstStyle/>
          <a:p>
            <a:pPr algn="l">
              <a:spcAft>
                <a:spcPts val="200"/>
              </a:spcAft>
            </a:pPr>
            <a:r>
              <a:rPr sz="2300" b="1">
                <a:solidFill>
                  <a:srgbClr val="1D1D1F"/>
                </a:solidFill>
                <a:latin typeface="Calibri"/>
              </a:rPr>
              <a:t>Fair comparison</a:t>
            </a:r>
          </a:p>
          <a:p>
            <a:pPr algn="l">
              <a:spcAft>
                <a:spcPts val="200"/>
              </a:spcAft>
            </a:pPr>
            <a:r>
              <a:rPr sz="1900" b="0">
                <a:solidFill>
                  <a:srgbClr val="4A4A50"/>
                </a:solidFill>
                <a:latin typeface="Calibri"/>
              </a:rPr>
              <a:t>All four contracts in ₹ per gram of pure gold</a:t>
            </a:r>
          </a:p>
        </p:txBody>
      </p:sp>
      <p:sp>
        <p:nvSpPr>
          <p:cNvPr id="117" name="Oval 116"/>
          <p:cNvSpPr/>
          <p:nvPr/>
        </p:nvSpPr>
        <p:spPr>
          <a:xfrm>
            <a:off x="11064240" y="4133087"/>
            <a:ext cx="731520" cy="73152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8" name="Picture 117" descr="bell_w.png"/>
          <p:cNvPicPr>
            <a:picLocks noChangeAspect="1"/>
          </p:cNvPicPr>
          <p:nvPr/>
        </p:nvPicPr>
        <p:blipFill>
          <a:blip r:embed="rId6"/>
          <a:stretch>
            <a:fillRect/>
          </a:stretch>
        </p:blipFill>
        <p:spPr>
          <a:xfrm>
            <a:off x="11225174" y="4294022"/>
            <a:ext cx="409651" cy="409651"/>
          </a:xfrm>
          <a:prstGeom prst="rect">
            <a:avLst/>
          </a:prstGeom>
        </p:spPr>
      </p:pic>
      <p:sp>
        <p:nvSpPr>
          <p:cNvPr id="119" name="TextBox 118"/>
          <p:cNvSpPr txBox="1"/>
          <p:nvPr/>
        </p:nvSpPr>
        <p:spPr>
          <a:xfrm>
            <a:off x="12024360" y="4087368"/>
            <a:ext cx="5349240" cy="1143000"/>
          </a:xfrm>
          <a:prstGeom prst="rect">
            <a:avLst/>
          </a:prstGeom>
          <a:noFill/>
        </p:spPr>
        <p:txBody>
          <a:bodyPr wrap="square" anchor="t" lIns="0" rIns="0" tIns="0" bIns="0">
            <a:spAutoFit/>
          </a:bodyPr>
          <a:lstStyle/>
          <a:p>
            <a:pPr algn="l">
              <a:spcAft>
                <a:spcPts val="200"/>
              </a:spcAft>
            </a:pPr>
            <a:r>
              <a:rPr sz="2300" b="1">
                <a:solidFill>
                  <a:srgbClr val="1D1D1F"/>
                </a:solidFill>
                <a:latin typeface="Calibri"/>
              </a:rPr>
              <a:t>Quiet alerts</a:t>
            </a:r>
          </a:p>
          <a:p>
            <a:pPr algn="l">
              <a:spcAft>
                <a:spcPts val="200"/>
              </a:spcAft>
            </a:pPr>
            <a:r>
              <a:rPr sz="1900" b="0">
                <a:solidFill>
                  <a:srgbClr val="4A4A50"/>
                </a:solidFill>
                <a:latin typeface="Calibri"/>
              </a:rPr>
              <a:t>Speaks up only when a contract strays far from its fair price</a:t>
            </a:r>
          </a:p>
        </p:txBody>
      </p:sp>
      <p:sp>
        <p:nvSpPr>
          <p:cNvPr id="120" name="Oval 119"/>
          <p:cNvSpPr/>
          <p:nvPr/>
        </p:nvSpPr>
        <p:spPr>
          <a:xfrm>
            <a:off x="11064240" y="5340096"/>
            <a:ext cx="731520" cy="73152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1" name="Picture 120" descr="flask_w.png"/>
          <p:cNvPicPr>
            <a:picLocks noChangeAspect="1"/>
          </p:cNvPicPr>
          <p:nvPr/>
        </p:nvPicPr>
        <p:blipFill>
          <a:blip r:embed="rId7"/>
          <a:stretch>
            <a:fillRect/>
          </a:stretch>
        </p:blipFill>
        <p:spPr>
          <a:xfrm>
            <a:off x="11225174" y="5501030"/>
            <a:ext cx="409651" cy="409651"/>
          </a:xfrm>
          <a:prstGeom prst="rect">
            <a:avLst/>
          </a:prstGeom>
        </p:spPr>
      </p:pic>
      <p:sp>
        <p:nvSpPr>
          <p:cNvPr id="122" name="TextBox 121"/>
          <p:cNvSpPr txBox="1"/>
          <p:nvPr/>
        </p:nvSpPr>
        <p:spPr>
          <a:xfrm>
            <a:off x="12024360" y="5294376"/>
            <a:ext cx="5349240" cy="1143000"/>
          </a:xfrm>
          <a:prstGeom prst="rect">
            <a:avLst/>
          </a:prstGeom>
          <a:noFill/>
        </p:spPr>
        <p:txBody>
          <a:bodyPr wrap="square" anchor="t" lIns="0" rIns="0" tIns="0" bIns="0">
            <a:spAutoFit/>
          </a:bodyPr>
          <a:lstStyle/>
          <a:p>
            <a:pPr algn="l">
              <a:spcAft>
                <a:spcPts val="200"/>
              </a:spcAft>
            </a:pPr>
            <a:r>
              <a:rPr sz="2300" b="1">
                <a:solidFill>
                  <a:srgbClr val="1D1D1F"/>
                </a:solidFill>
                <a:latin typeface="Calibri"/>
              </a:rPr>
              <a:t>Honest backtests</a:t>
            </a:r>
          </a:p>
          <a:p>
            <a:pPr algn="l">
              <a:spcAft>
                <a:spcPts val="200"/>
              </a:spcAft>
            </a:pPr>
            <a:r>
              <a:rPr sz="1900" b="0">
                <a:solidFill>
                  <a:srgbClr val="4A4A50"/>
                </a:solidFill>
                <a:latin typeface="Calibri"/>
              </a:rPr>
              <a:t>After every MCX fee and tax, on data the rules never saw</a:t>
            </a:r>
          </a:p>
        </p:txBody>
      </p:sp>
      <p:sp>
        <p:nvSpPr>
          <p:cNvPr id="123" name="Oval 122"/>
          <p:cNvSpPr/>
          <p:nvPr/>
        </p:nvSpPr>
        <p:spPr>
          <a:xfrm>
            <a:off x="11064240" y="6547103"/>
            <a:ext cx="731520" cy="73152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4" name="Picture 123" descr="calendar_w.png"/>
          <p:cNvPicPr>
            <a:picLocks noChangeAspect="1"/>
          </p:cNvPicPr>
          <p:nvPr/>
        </p:nvPicPr>
        <p:blipFill>
          <a:blip r:embed="rId8"/>
          <a:stretch>
            <a:fillRect/>
          </a:stretch>
        </p:blipFill>
        <p:spPr>
          <a:xfrm>
            <a:off x="11225174" y="6708038"/>
            <a:ext cx="409651" cy="409651"/>
          </a:xfrm>
          <a:prstGeom prst="rect">
            <a:avLst/>
          </a:prstGeom>
        </p:spPr>
      </p:pic>
      <p:sp>
        <p:nvSpPr>
          <p:cNvPr id="125" name="TextBox 124"/>
          <p:cNvSpPr txBox="1"/>
          <p:nvPr/>
        </p:nvSpPr>
        <p:spPr>
          <a:xfrm>
            <a:off x="12024360" y="6501383"/>
            <a:ext cx="5349240" cy="1143000"/>
          </a:xfrm>
          <a:prstGeom prst="rect">
            <a:avLst/>
          </a:prstGeom>
          <a:noFill/>
        </p:spPr>
        <p:txBody>
          <a:bodyPr wrap="square" anchor="t" lIns="0" rIns="0" tIns="0" bIns="0">
            <a:spAutoFit/>
          </a:bodyPr>
          <a:lstStyle/>
          <a:p>
            <a:pPr algn="l">
              <a:spcAft>
                <a:spcPts val="200"/>
              </a:spcAft>
            </a:pPr>
            <a:r>
              <a:rPr sz="2300" b="1">
                <a:solidFill>
                  <a:srgbClr val="1D1D1F"/>
                </a:solidFill>
                <a:latin typeface="Calibri"/>
              </a:rPr>
              <a:t>Contract calendar</a:t>
            </a:r>
          </a:p>
          <a:p>
            <a:pPr algn="l">
              <a:spcAft>
                <a:spcPts val="200"/>
              </a:spcAft>
            </a:pPr>
            <a:r>
              <a:rPr sz="1900" b="0">
                <a:solidFill>
                  <a:srgbClr val="4A4A50"/>
                </a:solidFill>
                <a:latin typeface="Calibri"/>
              </a:rPr>
              <a:t>Every trade checked against delivery dates</a:t>
            </a:r>
          </a:p>
        </p:txBody>
      </p:sp>
      <p:sp>
        <p:nvSpPr>
          <p:cNvPr id="126" name="Unique value"/>
          <p:cNvSpPr/>
          <p:nvPr/>
        </p:nvSpPr>
        <p:spPr>
          <a:xfrm>
            <a:off x="11064240" y="7863840"/>
            <a:ext cx="6309360" cy="1783080"/>
          </a:xfrm>
          <a:prstGeom prst="roundRect">
            <a:avLst>
              <a:gd name="adj" fmla="val 5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1338560" y="8046720"/>
            <a:ext cx="5852160" cy="1554480"/>
          </a:xfrm>
          <a:prstGeom prst="rect">
            <a:avLst/>
          </a:prstGeom>
          <a:noFill/>
        </p:spPr>
        <p:txBody>
          <a:bodyPr wrap="square" anchor="t" lIns="0" rIns="0" tIns="0" bIns="0">
            <a:spAutoFit/>
          </a:bodyPr>
          <a:lstStyle/>
          <a:p>
            <a:pPr algn="l">
              <a:spcAft>
                <a:spcPts val="400"/>
              </a:spcAft>
            </a:pPr>
            <a:r>
              <a:rPr sz="1800" b="1">
                <a:solidFill>
                  <a:srgbClr val="835A07"/>
                </a:solidFill>
                <a:latin typeface="Montserrat"/>
              </a:rPr>
              <a:t>UNIQUE VALUE</a:t>
            </a:r>
          </a:p>
          <a:p>
            <a:pPr algn="l">
              <a:spcAft>
                <a:spcPts val="400"/>
              </a:spcAft>
            </a:pPr>
            <a:r>
              <a:rPr sz="2000" b="0">
                <a:solidFill>
                  <a:srgbClr val="1D1D1F"/>
                </a:solidFill>
                <a:latin typeface="Calibri"/>
              </a:rPr>
              <a:t>Honest by design: rules locked in Git before every test, 3 sealed tests run once, and losses shown too.</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pic>
        <p:nvPicPr>
          <p:cNvPr id="116" name="Google Shape;116;p16" title="pptnlogo.png"/>
          <p:cNvPicPr preferRelativeResize="0"/>
          <p:nvPr/>
        </p:nvPicPr>
        <p:blipFill>
          <a:blip r:embed="rId3">
            <a:alphaModFix/>
          </a:blip>
          <a:stretch>
            <a:fillRect/>
          </a:stretch>
        </p:blipFill>
        <p:spPr>
          <a:xfrm>
            <a:off x="0" y="0"/>
            <a:ext cx="18288000" cy="1205517"/>
          </a:xfrm>
          <a:prstGeom prst="rect">
            <a:avLst/>
          </a:prstGeom>
          <a:noFill/>
          <a:ln>
            <a:noFill/>
          </a:ln>
        </p:spPr>
      </p:pic>
      <p:sp>
        <p:nvSpPr>
          <p:cNvPr id="117" name="Kicker"/>
          <p:cNvSpPr txBox="1"/>
          <p:nvPr/>
        </p:nvSpPr>
        <p:spPr>
          <a:xfrm>
            <a:off x="914400" y="1463040"/>
            <a:ext cx="1645920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ARCHITECTURE</a:t>
            </a:r>
          </a:p>
        </p:txBody>
      </p:sp>
      <p:sp>
        <p:nvSpPr>
          <p:cNvPr id="118" name="Title"/>
          <p:cNvSpPr txBox="1"/>
          <p:nvPr/>
        </p:nvSpPr>
        <p:spPr>
          <a:xfrm>
            <a:off x="914400" y="1828800"/>
            <a:ext cx="16459200" cy="777240"/>
          </a:xfrm>
          <a:prstGeom prst="rect">
            <a:avLst/>
          </a:prstGeom>
          <a:noFill/>
        </p:spPr>
        <p:txBody>
          <a:bodyPr wrap="square" anchor="t" lIns="0" rIns="0" tIns="0" bIns="0">
            <a:spAutoFit/>
          </a:bodyPr>
          <a:lstStyle/>
          <a:p>
            <a:pPr algn="l">
              <a:spcAft>
                <a:spcPts val="0"/>
              </a:spcAft>
            </a:pPr>
            <a:r>
              <a:rPr sz="4000" b="1">
                <a:solidFill>
                  <a:srgbClr val="1D1D1F"/>
                </a:solidFill>
                <a:latin typeface="Montserrat"/>
              </a:rPr>
              <a:t>From exchange files to a trader's screen</a:t>
            </a:r>
          </a:p>
        </p:txBody>
      </p:sp>
      <p:sp>
        <p:nvSpPr>
          <p:cNvPr id="119" name="Flow 1"/>
          <p:cNvSpPr/>
          <p:nvPr/>
        </p:nvSpPr>
        <p:spPr>
          <a:xfrm>
            <a:off x="914400" y="2880360"/>
            <a:ext cx="2889504" cy="2514600"/>
          </a:xfrm>
          <a:prstGeom prst="roundRect">
            <a:avLst>
              <a:gd name="adj" fmla="val 5000"/>
            </a:avLst>
          </a:prstGeom>
          <a:solidFill>
            <a:srgbClr val="FBF4E4"/>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1143000" y="3090672"/>
            <a:ext cx="685800" cy="68580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1" name="Picture 120" descr="database_w.png"/>
          <p:cNvPicPr>
            <a:picLocks noChangeAspect="1"/>
          </p:cNvPicPr>
          <p:nvPr/>
        </p:nvPicPr>
        <p:blipFill>
          <a:blip r:embed="rId4"/>
          <a:stretch>
            <a:fillRect/>
          </a:stretch>
        </p:blipFill>
        <p:spPr>
          <a:xfrm>
            <a:off x="1293876" y="3241548"/>
            <a:ext cx="384048" cy="384048"/>
          </a:xfrm>
          <a:prstGeom prst="rect">
            <a:avLst/>
          </a:prstGeom>
        </p:spPr>
      </p:pic>
      <p:sp>
        <p:nvSpPr>
          <p:cNvPr id="122" name="TextBox 121"/>
          <p:cNvSpPr txBox="1"/>
          <p:nvPr/>
        </p:nvSpPr>
        <p:spPr>
          <a:xfrm>
            <a:off x="1143000" y="3904487"/>
            <a:ext cx="2478024" cy="457200"/>
          </a:xfrm>
          <a:prstGeom prst="rect">
            <a:avLst/>
          </a:prstGeom>
          <a:noFill/>
        </p:spPr>
        <p:txBody>
          <a:bodyPr wrap="square" anchor="t" lIns="0" rIns="0" tIns="0" bIns="0">
            <a:spAutoFit/>
          </a:bodyPr>
          <a:lstStyle/>
          <a:p>
            <a:pPr algn="l">
              <a:spcAft>
                <a:spcPts val="0"/>
              </a:spcAft>
            </a:pPr>
            <a:r>
              <a:rPr sz="2300" b="1">
                <a:solidFill>
                  <a:srgbClr val="1D1D1F"/>
                </a:solidFill>
                <a:latin typeface="Calibri"/>
              </a:rPr>
              <a:t>MCX files</a:t>
            </a:r>
          </a:p>
        </p:txBody>
      </p:sp>
      <p:sp>
        <p:nvSpPr>
          <p:cNvPr id="123" name="TextBox 122"/>
          <p:cNvSpPr txBox="1"/>
          <p:nvPr/>
        </p:nvSpPr>
        <p:spPr>
          <a:xfrm>
            <a:off x="1143000" y="4389120"/>
            <a:ext cx="2478024" cy="9601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Official daily Bhavcopy, 2003–2026</a:t>
            </a:r>
          </a:p>
        </p:txBody>
      </p:sp>
      <p:cxnSp>
        <p:nvCxnSpPr>
          <p:cNvPr id="124" name="Connector 123"/>
          <p:cNvCxnSpPr/>
          <p:nvPr/>
        </p:nvCxnSpPr>
        <p:spPr>
          <a:xfrm>
            <a:off x="3858768" y="4133087"/>
            <a:ext cx="393192" cy="0"/>
          </a:xfrm>
          <a:prstGeom prst="line">
            <a:avLst/>
          </a:prstGeom>
          <a:ln w="38100">
            <a:solidFill>
              <a:srgbClr val="835A0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Flow 2"/>
          <p:cNvSpPr/>
          <p:nvPr/>
        </p:nvSpPr>
        <p:spPr>
          <a:xfrm>
            <a:off x="4306824" y="2880360"/>
            <a:ext cx="2889504" cy="25146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4535424" y="3090672"/>
            <a:ext cx="685800" cy="68580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7" name="Picture 126" descr="filter_w.png"/>
          <p:cNvPicPr>
            <a:picLocks noChangeAspect="1"/>
          </p:cNvPicPr>
          <p:nvPr/>
        </p:nvPicPr>
        <p:blipFill>
          <a:blip r:embed="rId5"/>
          <a:stretch>
            <a:fillRect/>
          </a:stretch>
        </p:blipFill>
        <p:spPr>
          <a:xfrm>
            <a:off x="4686300" y="3241548"/>
            <a:ext cx="384048" cy="384048"/>
          </a:xfrm>
          <a:prstGeom prst="rect">
            <a:avLst/>
          </a:prstGeom>
        </p:spPr>
      </p:pic>
      <p:sp>
        <p:nvSpPr>
          <p:cNvPr id="128" name="TextBox 127"/>
          <p:cNvSpPr txBox="1"/>
          <p:nvPr/>
        </p:nvSpPr>
        <p:spPr>
          <a:xfrm>
            <a:off x="4535424" y="3904487"/>
            <a:ext cx="2478024" cy="457200"/>
          </a:xfrm>
          <a:prstGeom prst="rect">
            <a:avLst/>
          </a:prstGeom>
          <a:noFill/>
        </p:spPr>
        <p:txBody>
          <a:bodyPr wrap="square" anchor="t" lIns="0" rIns="0" tIns="0" bIns="0">
            <a:spAutoFit/>
          </a:bodyPr>
          <a:lstStyle/>
          <a:p>
            <a:pPr algn="l">
              <a:spcAft>
                <a:spcPts val="0"/>
              </a:spcAft>
            </a:pPr>
            <a:r>
              <a:rPr sz="2300" b="1">
                <a:solidFill>
                  <a:srgbClr val="1D1D1F"/>
                </a:solidFill>
                <a:latin typeface="Calibri"/>
              </a:rPr>
              <a:t>Clean &amp; check</a:t>
            </a:r>
          </a:p>
        </p:txBody>
      </p:sp>
      <p:sp>
        <p:nvSpPr>
          <p:cNvPr id="129" name="TextBox 128"/>
          <p:cNvSpPr txBox="1"/>
          <p:nvPr/>
        </p:nvSpPr>
        <p:spPr>
          <a:xfrm>
            <a:off x="4535424" y="4389120"/>
            <a:ext cx="2478024" cy="9601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Duplicates out, every row checked</a:t>
            </a:r>
          </a:p>
        </p:txBody>
      </p:sp>
      <p:cxnSp>
        <p:nvCxnSpPr>
          <p:cNvPr id="130" name="Connector 129"/>
          <p:cNvCxnSpPr/>
          <p:nvPr/>
        </p:nvCxnSpPr>
        <p:spPr>
          <a:xfrm>
            <a:off x="7251192" y="4133087"/>
            <a:ext cx="393191" cy="0"/>
          </a:xfrm>
          <a:prstGeom prst="line">
            <a:avLst/>
          </a:prstGeom>
          <a:ln w="38100">
            <a:solidFill>
              <a:srgbClr val="835A0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Flow 3"/>
          <p:cNvSpPr/>
          <p:nvPr/>
        </p:nvSpPr>
        <p:spPr>
          <a:xfrm>
            <a:off x="7699248" y="2880360"/>
            <a:ext cx="2889504" cy="25146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7927848" y="3090672"/>
            <a:ext cx="685800" cy="68580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3" name="Picture 132" descr="cpu_w.png"/>
          <p:cNvPicPr>
            <a:picLocks noChangeAspect="1"/>
          </p:cNvPicPr>
          <p:nvPr/>
        </p:nvPicPr>
        <p:blipFill>
          <a:blip r:embed="rId6"/>
          <a:stretch>
            <a:fillRect/>
          </a:stretch>
        </p:blipFill>
        <p:spPr>
          <a:xfrm>
            <a:off x="8078723" y="3241548"/>
            <a:ext cx="384048" cy="384048"/>
          </a:xfrm>
          <a:prstGeom prst="rect">
            <a:avLst/>
          </a:prstGeom>
        </p:spPr>
      </p:pic>
      <p:sp>
        <p:nvSpPr>
          <p:cNvPr id="134" name="TextBox 133"/>
          <p:cNvSpPr txBox="1"/>
          <p:nvPr/>
        </p:nvSpPr>
        <p:spPr>
          <a:xfrm>
            <a:off x="7927848" y="3904487"/>
            <a:ext cx="2478024" cy="457200"/>
          </a:xfrm>
          <a:prstGeom prst="rect">
            <a:avLst/>
          </a:prstGeom>
          <a:noFill/>
        </p:spPr>
        <p:txBody>
          <a:bodyPr wrap="square" anchor="t" lIns="0" rIns="0" tIns="0" bIns="0">
            <a:spAutoFit/>
          </a:bodyPr>
          <a:lstStyle/>
          <a:p>
            <a:pPr algn="l">
              <a:spcAft>
                <a:spcPts val="0"/>
              </a:spcAft>
            </a:pPr>
            <a:r>
              <a:rPr sz="2300" b="1">
                <a:solidFill>
                  <a:srgbClr val="1D1D1F"/>
                </a:solidFill>
                <a:latin typeface="Calibri"/>
              </a:rPr>
              <a:t>Analyse</a:t>
            </a:r>
          </a:p>
        </p:txBody>
      </p:sp>
      <p:sp>
        <p:nvSpPr>
          <p:cNvPr id="135" name="TextBox 134"/>
          <p:cNvSpPr txBox="1"/>
          <p:nvPr/>
        </p:nvSpPr>
        <p:spPr>
          <a:xfrm>
            <a:off x="7927848" y="4389120"/>
            <a:ext cx="2478024" cy="9601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Fair value, curve, backtests, alerts</a:t>
            </a:r>
          </a:p>
        </p:txBody>
      </p:sp>
      <p:cxnSp>
        <p:nvCxnSpPr>
          <p:cNvPr id="136" name="Connector 135"/>
          <p:cNvCxnSpPr/>
          <p:nvPr/>
        </p:nvCxnSpPr>
        <p:spPr>
          <a:xfrm>
            <a:off x="10643616" y="4133087"/>
            <a:ext cx="393192" cy="0"/>
          </a:xfrm>
          <a:prstGeom prst="line">
            <a:avLst/>
          </a:prstGeom>
          <a:ln w="38100">
            <a:solidFill>
              <a:srgbClr val="835A0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7" name="Flow 4"/>
          <p:cNvSpPr/>
          <p:nvPr/>
        </p:nvSpPr>
        <p:spPr>
          <a:xfrm>
            <a:off x="11091672" y="2880360"/>
            <a:ext cx="2889504" cy="25146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1320272" y="3090672"/>
            <a:ext cx="685800" cy="68580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9" name="Picture 138" descr="file_w.png"/>
          <p:cNvPicPr>
            <a:picLocks noChangeAspect="1"/>
          </p:cNvPicPr>
          <p:nvPr/>
        </p:nvPicPr>
        <p:blipFill>
          <a:blip r:embed="rId7"/>
          <a:stretch>
            <a:fillRect/>
          </a:stretch>
        </p:blipFill>
        <p:spPr>
          <a:xfrm>
            <a:off x="11471147" y="3241548"/>
            <a:ext cx="384048" cy="384048"/>
          </a:xfrm>
          <a:prstGeom prst="rect">
            <a:avLst/>
          </a:prstGeom>
        </p:spPr>
      </p:pic>
      <p:sp>
        <p:nvSpPr>
          <p:cNvPr id="140" name="TextBox 139"/>
          <p:cNvSpPr txBox="1"/>
          <p:nvPr/>
        </p:nvSpPr>
        <p:spPr>
          <a:xfrm>
            <a:off x="11320272" y="3904487"/>
            <a:ext cx="2478024" cy="457200"/>
          </a:xfrm>
          <a:prstGeom prst="rect">
            <a:avLst/>
          </a:prstGeom>
          <a:noFill/>
        </p:spPr>
        <p:txBody>
          <a:bodyPr wrap="square" anchor="t" lIns="0" rIns="0" tIns="0" bIns="0">
            <a:spAutoFit/>
          </a:bodyPr>
          <a:lstStyle/>
          <a:p>
            <a:pPr algn="l">
              <a:spcAft>
                <a:spcPts val="0"/>
              </a:spcAft>
            </a:pPr>
            <a:r>
              <a:rPr sz="2300" b="1">
                <a:solidFill>
                  <a:srgbClr val="1D1D1F"/>
                </a:solidFill>
                <a:latin typeface="Calibri"/>
              </a:rPr>
              <a:t>Results</a:t>
            </a:r>
          </a:p>
        </p:txBody>
      </p:sp>
      <p:sp>
        <p:nvSpPr>
          <p:cNvPr id="141" name="TextBox 140"/>
          <p:cNvSpPr txBox="1"/>
          <p:nvPr/>
        </p:nvSpPr>
        <p:spPr>
          <a:xfrm>
            <a:off x="11320272" y="4389120"/>
            <a:ext cx="2478024" cy="9601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Every number saved to a file</a:t>
            </a:r>
          </a:p>
        </p:txBody>
      </p:sp>
      <p:cxnSp>
        <p:nvCxnSpPr>
          <p:cNvPr id="142" name="Connector 141"/>
          <p:cNvCxnSpPr/>
          <p:nvPr/>
        </p:nvCxnSpPr>
        <p:spPr>
          <a:xfrm>
            <a:off x="14036040" y="4133087"/>
            <a:ext cx="393192" cy="0"/>
          </a:xfrm>
          <a:prstGeom prst="line">
            <a:avLst/>
          </a:prstGeom>
          <a:ln w="38100">
            <a:solidFill>
              <a:srgbClr val="835A0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Flow 5"/>
          <p:cNvSpPr/>
          <p:nvPr/>
        </p:nvSpPr>
        <p:spPr>
          <a:xfrm>
            <a:off x="14484096" y="2880360"/>
            <a:ext cx="2889504" cy="2514600"/>
          </a:xfrm>
          <a:prstGeom prst="roundRect">
            <a:avLst>
              <a:gd name="adj" fmla="val 5000"/>
            </a:avLst>
          </a:prstGeom>
          <a:solidFill>
            <a:srgbClr val="FBF4E4"/>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14712696" y="3090672"/>
            <a:ext cx="685800" cy="68580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5" name="Picture 144" descr="layers_w.png"/>
          <p:cNvPicPr>
            <a:picLocks noChangeAspect="1"/>
          </p:cNvPicPr>
          <p:nvPr/>
        </p:nvPicPr>
        <p:blipFill>
          <a:blip r:embed="rId8"/>
          <a:stretch>
            <a:fillRect/>
          </a:stretch>
        </p:blipFill>
        <p:spPr>
          <a:xfrm>
            <a:off x="14863572" y="3241548"/>
            <a:ext cx="384048" cy="384048"/>
          </a:xfrm>
          <a:prstGeom prst="rect">
            <a:avLst/>
          </a:prstGeom>
        </p:spPr>
      </p:pic>
      <p:sp>
        <p:nvSpPr>
          <p:cNvPr id="146" name="TextBox 145"/>
          <p:cNvSpPr txBox="1"/>
          <p:nvPr/>
        </p:nvSpPr>
        <p:spPr>
          <a:xfrm>
            <a:off x="14712696" y="3904487"/>
            <a:ext cx="2478024" cy="457200"/>
          </a:xfrm>
          <a:prstGeom prst="rect">
            <a:avLst/>
          </a:prstGeom>
          <a:noFill/>
        </p:spPr>
        <p:txBody>
          <a:bodyPr wrap="square" anchor="t" lIns="0" rIns="0" tIns="0" bIns="0">
            <a:spAutoFit/>
          </a:bodyPr>
          <a:lstStyle/>
          <a:p>
            <a:pPr algn="l">
              <a:spcAft>
                <a:spcPts val="0"/>
              </a:spcAft>
            </a:pPr>
            <a:r>
              <a:rPr sz="2300" b="1">
                <a:solidFill>
                  <a:srgbClr val="1D1D1F"/>
                </a:solidFill>
                <a:latin typeface="Calibri"/>
              </a:rPr>
              <a:t>Export</a:t>
            </a:r>
          </a:p>
        </p:txBody>
      </p:sp>
      <p:sp>
        <p:nvSpPr>
          <p:cNvPr id="147" name="TextBox 146"/>
          <p:cNvSpPr txBox="1"/>
          <p:nvPr/>
        </p:nvSpPr>
        <p:spPr>
          <a:xfrm>
            <a:off x="14712696" y="4389120"/>
            <a:ext cx="2478024" cy="9601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One data file feeds every output</a:t>
            </a:r>
          </a:p>
        </p:txBody>
      </p:sp>
      <p:sp>
        <p:nvSpPr>
          <p:cNvPr id="148" name="Output 1"/>
          <p:cNvSpPr/>
          <p:nvPr/>
        </p:nvSpPr>
        <p:spPr>
          <a:xfrm>
            <a:off x="914400" y="5760720"/>
            <a:ext cx="5303520" cy="105156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143000" y="5897880"/>
            <a:ext cx="777240" cy="777240"/>
          </a:xfrm>
          <a:prstGeom prst="ellipse">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0" name="Picture 149" descr="monitor.png"/>
          <p:cNvPicPr>
            <a:picLocks noChangeAspect="1"/>
          </p:cNvPicPr>
          <p:nvPr/>
        </p:nvPicPr>
        <p:blipFill>
          <a:blip r:embed="rId9"/>
          <a:stretch>
            <a:fillRect/>
          </a:stretch>
        </p:blipFill>
        <p:spPr>
          <a:xfrm>
            <a:off x="1313992" y="6068872"/>
            <a:ext cx="435254" cy="435254"/>
          </a:xfrm>
          <a:prstGeom prst="rect">
            <a:avLst/>
          </a:prstGeom>
        </p:spPr>
      </p:pic>
      <p:sp>
        <p:nvSpPr>
          <p:cNvPr id="151" name="TextBox 150"/>
          <p:cNvSpPr txBox="1"/>
          <p:nvPr/>
        </p:nvSpPr>
        <p:spPr>
          <a:xfrm>
            <a:off x="2103120" y="5760720"/>
            <a:ext cx="4023360" cy="1051560"/>
          </a:xfrm>
          <a:prstGeom prst="rect">
            <a:avLst/>
          </a:prstGeom>
          <a:noFill/>
        </p:spPr>
        <p:txBody>
          <a:bodyPr wrap="square" anchor="ctr" lIns="0" rIns="0" tIns="0" bIns="0">
            <a:spAutoFit/>
          </a:bodyPr>
          <a:lstStyle/>
          <a:p>
            <a:pPr algn="l">
              <a:spcAft>
                <a:spcPts val="0"/>
              </a:spcAft>
            </a:pPr>
            <a:r>
              <a:rPr sz="2300" b="1">
                <a:solidFill>
                  <a:srgbClr val="1D1D1F"/>
                </a:solidFill>
                <a:latin typeface="Calibri"/>
              </a:rPr>
              <a:t>Dashboard  </a:t>
            </a:r>
            <a:r>
              <a:rPr sz="1900" b="0">
                <a:solidFill>
                  <a:srgbClr val="4A4A50"/>
                </a:solidFill>
                <a:latin typeface="Calibri"/>
              </a:rPr>
              <a:t>for traders</a:t>
            </a:r>
          </a:p>
        </p:txBody>
      </p:sp>
      <p:sp>
        <p:nvSpPr>
          <p:cNvPr id="152" name="Output 2"/>
          <p:cNvSpPr/>
          <p:nvPr/>
        </p:nvSpPr>
        <p:spPr>
          <a:xfrm>
            <a:off x="6464808" y="5760720"/>
            <a:ext cx="5303520" cy="105156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6693408" y="5897880"/>
            <a:ext cx="777240" cy="777240"/>
          </a:xfrm>
          <a:prstGeom prst="ellipse">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4" name="Picture 153" descr="report.png"/>
          <p:cNvPicPr>
            <a:picLocks noChangeAspect="1"/>
          </p:cNvPicPr>
          <p:nvPr/>
        </p:nvPicPr>
        <p:blipFill>
          <a:blip r:embed="rId10"/>
          <a:stretch>
            <a:fillRect/>
          </a:stretch>
        </p:blipFill>
        <p:spPr>
          <a:xfrm>
            <a:off x="6864400" y="6068872"/>
            <a:ext cx="435254" cy="435254"/>
          </a:xfrm>
          <a:prstGeom prst="rect">
            <a:avLst/>
          </a:prstGeom>
        </p:spPr>
      </p:pic>
      <p:sp>
        <p:nvSpPr>
          <p:cNvPr id="155" name="TextBox 154"/>
          <p:cNvSpPr txBox="1"/>
          <p:nvPr/>
        </p:nvSpPr>
        <p:spPr>
          <a:xfrm>
            <a:off x="7653528" y="5760720"/>
            <a:ext cx="4023360" cy="1051560"/>
          </a:xfrm>
          <a:prstGeom prst="rect">
            <a:avLst/>
          </a:prstGeom>
          <a:noFill/>
        </p:spPr>
        <p:txBody>
          <a:bodyPr wrap="square" anchor="ctr" lIns="0" rIns="0" tIns="0" bIns="0">
            <a:spAutoFit/>
          </a:bodyPr>
          <a:lstStyle/>
          <a:p>
            <a:pPr algn="l">
              <a:spcAft>
                <a:spcPts val="0"/>
              </a:spcAft>
            </a:pPr>
            <a:r>
              <a:rPr sz="2300" b="1">
                <a:solidFill>
                  <a:srgbClr val="1D1D1F"/>
                </a:solidFill>
                <a:latin typeface="Calibri"/>
              </a:rPr>
              <a:t>Report  </a:t>
            </a:r>
            <a:r>
              <a:rPr sz="1900" b="0">
                <a:solidFill>
                  <a:srgbClr val="4A4A50"/>
                </a:solidFill>
                <a:latin typeface="Calibri"/>
              </a:rPr>
              <a:t>17-page PDF</a:t>
            </a:r>
          </a:p>
        </p:txBody>
      </p:sp>
      <p:sp>
        <p:nvSpPr>
          <p:cNvPr id="156" name="Output 3"/>
          <p:cNvSpPr/>
          <p:nvPr/>
        </p:nvSpPr>
        <p:spPr>
          <a:xfrm>
            <a:off x="12015216" y="5760720"/>
            <a:ext cx="5303520" cy="105156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12243816" y="5897880"/>
            <a:ext cx="777240" cy="777240"/>
          </a:xfrm>
          <a:prstGeom prst="ellipse">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8" name="Picture 157" descr="play.png"/>
          <p:cNvPicPr>
            <a:picLocks noChangeAspect="1"/>
          </p:cNvPicPr>
          <p:nvPr/>
        </p:nvPicPr>
        <p:blipFill>
          <a:blip r:embed="rId11"/>
          <a:stretch>
            <a:fillRect/>
          </a:stretch>
        </p:blipFill>
        <p:spPr>
          <a:xfrm>
            <a:off x="12414808" y="6068872"/>
            <a:ext cx="435254" cy="435254"/>
          </a:xfrm>
          <a:prstGeom prst="rect">
            <a:avLst/>
          </a:prstGeom>
        </p:spPr>
      </p:pic>
      <p:sp>
        <p:nvSpPr>
          <p:cNvPr id="159" name="TextBox 158"/>
          <p:cNvSpPr txBox="1"/>
          <p:nvPr/>
        </p:nvSpPr>
        <p:spPr>
          <a:xfrm>
            <a:off x="13203936" y="5760720"/>
            <a:ext cx="4023360" cy="1051560"/>
          </a:xfrm>
          <a:prstGeom prst="rect">
            <a:avLst/>
          </a:prstGeom>
          <a:noFill/>
        </p:spPr>
        <p:txBody>
          <a:bodyPr wrap="square" anchor="ctr" lIns="0" rIns="0" tIns="0" bIns="0">
            <a:spAutoFit/>
          </a:bodyPr>
          <a:lstStyle/>
          <a:p>
            <a:pPr algn="l">
              <a:spcAft>
                <a:spcPts val="0"/>
              </a:spcAft>
            </a:pPr>
            <a:r>
              <a:rPr sz="2300" b="1">
                <a:solidFill>
                  <a:srgbClr val="1D1D1F"/>
                </a:solidFill>
                <a:latin typeface="Calibri"/>
              </a:rPr>
              <a:t>Pitch  </a:t>
            </a:r>
            <a:r>
              <a:rPr sz="1900" b="0">
                <a:solidFill>
                  <a:srgbClr val="4A4A50"/>
                </a:solidFill>
                <a:latin typeface="Calibri"/>
              </a:rPr>
              <a:t>interactive story</a:t>
            </a:r>
          </a:p>
        </p:txBody>
      </p:sp>
      <p:sp>
        <p:nvSpPr>
          <p:cNvPr id="160" name="Oval 159"/>
          <p:cNvSpPr/>
          <p:nvPr/>
        </p:nvSpPr>
        <p:spPr>
          <a:xfrm>
            <a:off x="914400" y="7178040"/>
            <a:ext cx="566928" cy="56692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1" name="Picture 160" descr="code_w.png"/>
          <p:cNvPicPr>
            <a:picLocks noChangeAspect="1"/>
          </p:cNvPicPr>
          <p:nvPr/>
        </p:nvPicPr>
        <p:blipFill>
          <a:blip r:embed="rId12"/>
          <a:stretch>
            <a:fillRect/>
          </a:stretch>
        </p:blipFill>
        <p:spPr>
          <a:xfrm>
            <a:off x="1039124" y="7302764"/>
            <a:ext cx="317479" cy="317479"/>
          </a:xfrm>
          <a:prstGeom prst="rect">
            <a:avLst/>
          </a:prstGeom>
        </p:spPr>
      </p:pic>
      <p:sp>
        <p:nvSpPr>
          <p:cNvPr id="162" name="TextBox 161"/>
          <p:cNvSpPr txBox="1"/>
          <p:nvPr/>
        </p:nvSpPr>
        <p:spPr>
          <a:xfrm>
            <a:off x="1645920" y="7178040"/>
            <a:ext cx="4572000" cy="566928"/>
          </a:xfrm>
          <a:prstGeom prst="rect">
            <a:avLst/>
          </a:prstGeom>
          <a:noFill/>
        </p:spPr>
        <p:txBody>
          <a:bodyPr wrap="square" anchor="ctr" lIns="0" rIns="0" tIns="0" bIns="0">
            <a:spAutoFit/>
          </a:bodyPr>
          <a:lstStyle/>
          <a:p>
            <a:pPr algn="l">
              <a:spcAft>
                <a:spcPts val="0"/>
              </a:spcAft>
            </a:pPr>
            <a:r>
              <a:rPr sz="1900" b="1">
                <a:solidFill>
                  <a:srgbClr val="835A07"/>
                </a:solidFill>
                <a:latin typeface="Montserrat"/>
              </a:rPr>
              <a:t>TECH STACK</a:t>
            </a:r>
          </a:p>
        </p:txBody>
      </p:sp>
      <p:sp>
        <p:nvSpPr>
          <p:cNvPr id="163" name="TextBox 162"/>
          <p:cNvSpPr txBox="1"/>
          <p:nvPr/>
        </p:nvSpPr>
        <p:spPr>
          <a:xfrm>
            <a:off x="914400" y="7909560"/>
            <a:ext cx="5303520" cy="1737360"/>
          </a:xfrm>
          <a:prstGeom prst="rect">
            <a:avLst/>
          </a:prstGeom>
          <a:noFill/>
        </p:spPr>
        <p:txBody>
          <a:bodyPr wrap="square" anchor="t" lIns="0" rIns="0" tIns="0" bIns="0">
            <a:spAutoFit/>
          </a:bodyPr>
          <a:lstStyle/>
          <a:p>
            <a:pPr algn="l" marL="292608" indent="-292608">
              <a:spcAft>
                <a:spcPts val="400"/>
              </a:spcAft>
              <a:buClr>
                <a:srgbClr val="835A07"/>
              </a:buClr>
              <a:buChar char="•"/>
            </a:pPr>
            <a:r>
              <a:rPr sz="2000" b="0">
                <a:solidFill>
                  <a:srgbClr val="1D1D1F"/>
                </a:solidFill>
                <a:latin typeface="Calibri"/>
              </a:rPr>
              <a:t>Python, pandas, NumPy</a:t>
            </a:r>
          </a:p>
          <a:p>
            <a:pPr algn="l" marL="292608" indent="-292608">
              <a:spcAft>
                <a:spcPts val="400"/>
              </a:spcAft>
              <a:buClr>
                <a:srgbClr val="835A07"/>
              </a:buClr>
              <a:buChar char="•"/>
            </a:pPr>
            <a:r>
              <a:rPr sz="2000" b="0">
                <a:solidFill>
                  <a:srgbClr val="1D1D1F"/>
                </a:solidFill>
                <a:latin typeface="Calibri"/>
              </a:rPr>
              <a:t>React 19 built with esbuild</a:t>
            </a:r>
          </a:p>
          <a:p>
            <a:pPr algn="l" marL="292608" indent="-292608">
              <a:spcAft>
                <a:spcPts val="400"/>
              </a:spcAft>
              <a:buClr>
                <a:srgbClr val="835A07"/>
              </a:buClr>
              <a:buChar char="•"/>
            </a:pPr>
            <a:r>
              <a:rPr sz="2000" b="0">
                <a:solidFill>
                  <a:srgbClr val="1D1D1F"/>
                </a:solidFill>
                <a:latin typeface="Calibri"/>
              </a:rPr>
              <a:t>ReportLab and Matplotlib</a:t>
            </a:r>
          </a:p>
        </p:txBody>
      </p:sp>
      <p:sp>
        <p:nvSpPr>
          <p:cNvPr id="164" name="Oval 163"/>
          <p:cNvSpPr/>
          <p:nvPr/>
        </p:nvSpPr>
        <p:spPr>
          <a:xfrm>
            <a:off x="6464808" y="7178040"/>
            <a:ext cx="566928" cy="56692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5" name="Picture 164" descr="git_w.png"/>
          <p:cNvPicPr>
            <a:picLocks noChangeAspect="1"/>
          </p:cNvPicPr>
          <p:nvPr/>
        </p:nvPicPr>
        <p:blipFill>
          <a:blip r:embed="rId13"/>
          <a:stretch>
            <a:fillRect/>
          </a:stretch>
        </p:blipFill>
        <p:spPr>
          <a:xfrm>
            <a:off x="6589532" y="7302764"/>
            <a:ext cx="317479" cy="317479"/>
          </a:xfrm>
          <a:prstGeom prst="rect">
            <a:avLst/>
          </a:prstGeom>
        </p:spPr>
      </p:pic>
      <p:sp>
        <p:nvSpPr>
          <p:cNvPr id="166" name="TextBox 165"/>
          <p:cNvSpPr txBox="1"/>
          <p:nvPr/>
        </p:nvSpPr>
        <p:spPr>
          <a:xfrm>
            <a:off x="7196328" y="7178040"/>
            <a:ext cx="4572000" cy="566928"/>
          </a:xfrm>
          <a:prstGeom prst="rect">
            <a:avLst/>
          </a:prstGeom>
          <a:noFill/>
        </p:spPr>
        <p:txBody>
          <a:bodyPr wrap="square" anchor="ctr" lIns="0" rIns="0" tIns="0" bIns="0">
            <a:spAutoFit/>
          </a:bodyPr>
          <a:lstStyle/>
          <a:p>
            <a:pPr algn="l">
              <a:spcAft>
                <a:spcPts val="0"/>
              </a:spcAft>
            </a:pPr>
            <a:r>
              <a:rPr sz="1900" b="1">
                <a:solidFill>
                  <a:srgbClr val="835A07"/>
                </a:solidFill>
                <a:latin typeface="Montserrat"/>
              </a:rPr>
              <a:t>HOW WE KEEP IT HONEST</a:t>
            </a:r>
          </a:p>
        </p:txBody>
      </p:sp>
      <p:sp>
        <p:nvSpPr>
          <p:cNvPr id="167" name="TextBox 166"/>
          <p:cNvSpPr txBox="1"/>
          <p:nvPr/>
        </p:nvSpPr>
        <p:spPr>
          <a:xfrm>
            <a:off x="6464808" y="7909560"/>
            <a:ext cx="5303520" cy="1737360"/>
          </a:xfrm>
          <a:prstGeom prst="rect">
            <a:avLst/>
          </a:prstGeom>
          <a:noFill/>
        </p:spPr>
        <p:txBody>
          <a:bodyPr wrap="square" anchor="t" lIns="0" rIns="0" tIns="0" bIns="0">
            <a:spAutoFit/>
          </a:bodyPr>
          <a:lstStyle/>
          <a:p>
            <a:pPr algn="l" marL="292608" indent="-292608">
              <a:spcAft>
                <a:spcPts val="400"/>
              </a:spcAft>
              <a:buClr>
                <a:srgbClr val="835A07"/>
              </a:buClr>
              <a:buChar char="•"/>
            </a:pPr>
            <a:r>
              <a:rPr sz="2000" b="0">
                <a:solidFill>
                  <a:srgbClr val="1D1D1F"/>
                </a:solidFill>
                <a:latin typeface="Calibri"/>
              </a:rPr>
              <a:t>Rules time-stamped in Git</a:t>
            </a:r>
          </a:p>
          <a:p>
            <a:pPr algn="l" marL="292608" indent="-292608">
              <a:spcAft>
                <a:spcPts val="400"/>
              </a:spcAft>
              <a:buClr>
                <a:srgbClr val="835A07"/>
              </a:buClr>
              <a:buChar char="•"/>
            </a:pPr>
            <a:r>
              <a:rPr sz="2000" b="0">
                <a:solidFill>
                  <a:srgbClr val="1D1D1F"/>
                </a:solidFill>
                <a:latin typeface="Calibri"/>
              </a:rPr>
              <a:t>Sealed years kept in a separate file</a:t>
            </a:r>
          </a:p>
          <a:p>
            <a:pPr algn="l" marL="292608" indent="-292608">
              <a:spcAft>
                <a:spcPts val="400"/>
              </a:spcAft>
              <a:buClr>
                <a:srgbClr val="835A07"/>
              </a:buClr>
              <a:buChar char="•"/>
            </a:pPr>
            <a:r>
              <a:rPr sz="2000" b="0">
                <a:solidFill>
                  <a:srgbClr val="1D1D1F"/>
                </a:solidFill>
                <a:latin typeface="Calibri"/>
              </a:rPr>
              <a:t>10 automated tests</a:t>
            </a:r>
          </a:p>
        </p:txBody>
      </p:sp>
      <p:sp>
        <p:nvSpPr>
          <p:cNvPr id="168" name="Oval 167"/>
          <p:cNvSpPr/>
          <p:nvPr/>
        </p:nvSpPr>
        <p:spPr>
          <a:xfrm>
            <a:off x="12015216" y="7178040"/>
            <a:ext cx="566928" cy="56692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9" name="Picture 168" descr="globe_w.png"/>
          <p:cNvPicPr>
            <a:picLocks noChangeAspect="1"/>
          </p:cNvPicPr>
          <p:nvPr/>
        </p:nvPicPr>
        <p:blipFill>
          <a:blip r:embed="rId14"/>
          <a:stretch>
            <a:fillRect/>
          </a:stretch>
        </p:blipFill>
        <p:spPr>
          <a:xfrm>
            <a:off x="12139940" y="7302764"/>
            <a:ext cx="317479" cy="317479"/>
          </a:xfrm>
          <a:prstGeom prst="rect">
            <a:avLst/>
          </a:prstGeom>
        </p:spPr>
      </p:pic>
      <p:sp>
        <p:nvSpPr>
          <p:cNvPr id="170" name="TextBox 169"/>
          <p:cNvSpPr txBox="1"/>
          <p:nvPr/>
        </p:nvSpPr>
        <p:spPr>
          <a:xfrm>
            <a:off x="12746736" y="7178040"/>
            <a:ext cx="4572000" cy="566928"/>
          </a:xfrm>
          <a:prstGeom prst="rect">
            <a:avLst/>
          </a:prstGeom>
          <a:noFill/>
        </p:spPr>
        <p:txBody>
          <a:bodyPr wrap="square" anchor="ctr" lIns="0" rIns="0" tIns="0" bIns="0">
            <a:spAutoFit/>
          </a:bodyPr>
          <a:lstStyle/>
          <a:p>
            <a:pPr algn="l">
              <a:spcAft>
                <a:spcPts val="0"/>
              </a:spcAft>
            </a:pPr>
            <a:r>
              <a:rPr sz="1900" b="1">
                <a:solidFill>
                  <a:srgbClr val="835A07"/>
                </a:solidFill>
                <a:latin typeface="Montserrat"/>
              </a:rPr>
              <a:t>APIS USED</a:t>
            </a:r>
          </a:p>
        </p:txBody>
      </p:sp>
      <p:sp>
        <p:nvSpPr>
          <p:cNvPr id="171" name="TextBox 170"/>
          <p:cNvSpPr txBox="1"/>
          <p:nvPr/>
        </p:nvSpPr>
        <p:spPr>
          <a:xfrm>
            <a:off x="12015216" y="7909560"/>
            <a:ext cx="5303520" cy="1737360"/>
          </a:xfrm>
          <a:prstGeom prst="rect">
            <a:avLst/>
          </a:prstGeom>
          <a:noFill/>
        </p:spPr>
        <p:txBody>
          <a:bodyPr wrap="square" anchor="t" lIns="0" rIns="0" tIns="0" bIns="0">
            <a:spAutoFit/>
          </a:bodyPr>
          <a:lstStyle/>
          <a:p>
            <a:pPr algn="l" marL="292608" indent="-292608">
              <a:spcAft>
                <a:spcPts val="400"/>
              </a:spcAft>
              <a:buClr>
                <a:srgbClr val="835A07"/>
              </a:buClr>
              <a:buChar char="•"/>
            </a:pPr>
            <a:r>
              <a:rPr sz="2000" b="0">
                <a:solidFill>
                  <a:srgbClr val="1D1D1F"/>
                </a:solidFill>
                <a:latin typeface="Calibri"/>
              </a:rPr>
              <a:t>No paid APIs, no keys</a:t>
            </a:r>
          </a:p>
          <a:p>
            <a:pPr algn="l" marL="292608" indent="-292608">
              <a:spcAft>
                <a:spcPts val="400"/>
              </a:spcAft>
              <a:buClr>
                <a:srgbClr val="835A07"/>
              </a:buClr>
              <a:buChar char="•"/>
            </a:pPr>
            <a:r>
              <a:rPr sz="2000" b="0">
                <a:solidFill>
                  <a:srgbClr val="1D1D1F"/>
                </a:solidFill>
                <a:latin typeface="Calibri"/>
              </a:rPr>
              <a:t>MCX's public Bhavcopy page</a:t>
            </a:r>
          </a:p>
          <a:p>
            <a:pPr algn="l" marL="292608" indent="-292608">
              <a:spcAft>
                <a:spcPts val="400"/>
              </a:spcAft>
              <a:buClr>
                <a:srgbClr val="835A07"/>
              </a:buClr>
              <a:buChar char="•"/>
            </a:pPr>
            <a:r>
              <a:rPr sz="2000" b="0">
                <a:solidFill>
                  <a:srgbClr val="1D1D1F"/>
                </a:solidFill>
                <a:latin typeface="Calibri"/>
              </a:rPr>
              <a:t>Works fully offline</a:t>
            </a:r>
          </a:p>
        </p:txBody>
      </p:sp>
      <p:sp>
        <p:nvSpPr>
          <p:cNvPr id="172" name="TextBox 171"/>
          <p:cNvSpPr txBox="1"/>
          <p:nvPr/>
        </p:nvSpPr>
        <p:spPr>
          <a:xfrm>
            <a:off x="914400" y="9646920"/>
            <a:ext cx="16459200" cy="365760"/>
          </a:xfrm>
          <a:prstGeom prst="rect">
            <a:avLst/>
          </a:prstGeom>
          <a:noFill/>
        </p:spPr>
        <p:txBody>
          <a:bodyPr wrap="square" anchor="t" lIns="0" rIns="0" tIns="0" bIns="0">
            <a:spAutoFit/>
          </a:bodyPr>
          <a:lstStyle/>
          <a:p>
            <a:pPr algn="l">
              <a:spcAft>
                <a:spcPts val="0"/>
              </a:spcAft>
            </a:pPr>
            <a:r>
              <a:rPr sz="1600" b="0">
                <a:solidFill>
                  <a:srgbClr val="4A4A50"/>
                </a:solidFill>
                <a:latin typeface="Calibri"/>
              </a:rPr>
              <a:t>Code: github.com/nikhilkumar-dev0310/HACKINHILLS-SYNTAXTERROR-TAN-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pic>
        <p:nvPicPr>
          <p:cNvPr id="125" name="Google Shape;125;p17" title="pptnlogo.png"/>
          <p:cNvPicPr preferRelativeResize="0"/>
          <p:nvPr/>
        </p:nvPicPr>
        <p:blipFill>
          <a:blip r:embed="rId3">
            <a:alphaModFix/>
          </a:blip>
          <a:stretch>
            <a:fillRect/>
          </a:stretch>
        </p:blipFill>
        <p:spPr>
          <a:xfrm>
            <a:off x="0" y="0"/>
            <a:ext cx="18288000" cy="1205517"/>
          </a:xfrm>
          <a:prstGeom prst="rect">
            <a:avLst/>
          </a:prstGeom>
          <a:noFill/>
          <a:ln>
            <a:noFill/>
          </a:ln>
        </p:spPr>
      </p:pic>
      <p:sp>
        <p:nvSpPr>
          <p:cNvPr id="126" name="Kicker"/>
          <p:cNvSpPr txBox="1"/>
          <p:nvPr/>
        </p:nvSpPr>
        <p:spPr>
          <a:xfrm>
            <a:off x="914400" y="1463040"/>
            <a:ext cx="1645920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MARKET RESEARCH / ANALYSIS</a:t>
            </a:r>
          </a:p>
        </p:txBody>
      </p:sp>
      <p:sp>
        <p:nvSpPr>
          <p:cNvPr id="127" name="Title"/>
          <p:cNvSpPr txBox="1"/>
          <p:nvPr/>
        </p:nvSpPr>
        <p:spPr>
          <a:xfrm>
            <a:off x="914400" y="1828800"/>
            <a:ext cx="16459200" cy="777240"/>
          </a:xfrm>
          <a:prstGeom prst="rect">
            <a:avLst/>
          </a:prstGeom>
          <a:noFill/>
        </p:spPr>
        <p:txBody>
          <a:bodyPr wrap="square" anchor="t" lIns="0" rIns="0" tIns="0" bIns="0">
            <a:spAutoFit/>
          </a:bodyPr>
          <a:lstStyle/>
          <a:p>
            <a:pPr algn="l">
              <a:spcAft>
                <a:spcPts val="0"/>
              </a:spcAft>
            </a:pPr>
            <a:r>
              <a:rPr sz="4000" b="1">
                <a:solidFill>
                  <a:srgbClr val="1D1D1F"/>
                </a:solidFill>
                <a:latin typeface="Montserrat"/>
              </a:rPr>
              <a:t>Gold futures in India: big, and growing fast</a:t>
            </a:r>
          </a:p>
        </p:txBody>
      </p:sp>
      <p:sp>
        <p:nvSpPr>
          <p:cNvPr id="128" name="Stat 1"/>
          <p:cNvSpPr/>
          <p:nvPr/>
        </p:nvSpPr>
        <p:spPr>
          <a:xfrm>
            <a:off x="914400" y="2880360"/>
            <a:ext cx="5303520" cy="224028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34440" y="3063240"/>
            <a:ext cx="4754880" cy="868680"/>
          </a:xfrm>
          <a:prstGeom prst="rect">
            <a:avLst/>
          </a:prstGeom>
          <a:noFill/>
        </p:spPr>
        <p:txBody>
          <a:bodyPr wrap="square" anchor="t" lIns="0" rIns="0" tIns="0" bIns="0">
            <a:spAutoFit/>
          </a:bodyPr>
          <a:lstStyle/>
          <a:p>
            <a:pPr algn="l">
              <a:spcAft>
                <a:spcPts val="0"/>
              </a:spcAft>
            </a:pPr>
            <a:r>
              <a:rPr sz="5000" b="1">
                <a:solidFill>
                  <a:srgbClr val="835A07"/>
                </a:solidFill>
                <a:latin typeface="Montserrat"/>
              </a:rPr>
              <a:t>₹28,484 cr</a:t>
            </a:r>
          </a:p>
        </p:txBody>
      </p:sp>
      <p:sp>
        <p:nvSpPr>
          <p:cNvPr id="130" name="TextBox 129"/>
          <p:cNvSpPr txBox="1"/>
          <p:nvPr/>
        </p:nvSpPr>
        <p:spPr>
          <a:xfrm>
            <a:off x="1234440" y="4023360"/>
            <a:ext cx="4754880" cy="100584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traded every day in MCX gold futures, FY2025-26</a:t>
            </a:r>
          </a:p>
        </p:txBody>
      </p:sp>
      <p:sp>
        <p:nvSpPr>
          <p:cNvPr id="131" name="Stat 2"/>
          <p:cNvSpPr/>
          <p:nvPr/>
        </p:nvSpPr>
        <p:spPr>
          <a:xfrm>
            <a:off x="6464808" y="2880360"/>
            <a:ext cx="5303520" cy="224028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784848" y="3063240"/>
            <a:ext cx="4754880" cy="868680"/>
          </a:xfrm>
          <a:prstGeom prst="rect">
            <a:avLst/>
          </a:prstGeom>
          <a:noFill/>
        </p:spPr>
        <p:txBody>
          <a:bodyPr wrap="square" anchor="t" lIns="0" rIns="0" tIns="0" bIns="0">
            <a:spAutoFit/>
          </a:bodyPr>
          <a:lstStyle/>
          <a:p>
            <a:pPr algn="l">
              <a:spcAft>
                <a:spcPts val="0"/>
              </a:spcAft>
            </a:pPr>
            <a:r>
              <a:rPr sz="5000" b="1">
                <a:solidFill>
                  <a:srgbClr val="835A07"/>
                </a:solidFill>
                <a:latin typeface="Montserrat"/>
              </a:rPr>
              <a:t>3.4×</a:t>
            </a:r>
          </a:p>
        </p:txBody>
      </p:sp>
      <p:sp>
        <p:nvSpPr>
          <p:cNvPr id="133" name="TextBox 132"/>
          <p:cNvSpPr txBox="1"/>
          <p:nvPr/>
        </p:nvSpPr>
        <p:spPr>
          <a:xfrm>
            <a:off x="6784848" y="4023360"/>
            <a:ext cx="4754880" cy="100584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growth in one year (₹8,449 cr a day in FY2024-25)</a:t>
            </a:r>
          </a:p>
        </p:txBody>
      </p:sp>
      <p:sp>
        <p:nvSpPr>
          <p:cNvPr id="134" name="Stat 3"/>
          <p:cNvSpPr/>
          <p:nvPr/>
        </p:nvSpPr>
        <p:spPr>
          <a:xfrm>
            <a:off x="12015216" y="2880360"/>
            <a:ext cx="5303520" cy="224028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2335256" y="3063240"/>
            <a:ext cx="4754880" cy="868680"/>
          </a:xfrm>
          <a:prstGeom prst="rect">
            <a:avLst/>
          </a:prstGeom>
          <a:noFill/>
        </p:spPr>
        <p:txBody>
          <a:bodyPr wrap="square" anchor="t" lIns="0" rIns="0" tIns="0" bIns="0">
            <a:spAutoFit/>
          </a:bodyPr>
          <a:lstStyle/>
          <a:p>
            <a:pPr algn="l">
              <a:spcAft>
                <a:spcPts val="0"/>
              </a:spcAft>
            </a:pPr>
            <a:r>
              <a:rPr sz="5000" b="1">
                <a:solidFill>
                  <a:srgbClr val="835A07"/>
                </a:solidFill>
                <a:latin typeface="Montserrat"/>
              </a:rPr>
              <a:t>57%</a:t>
            </a:r>
          </a:p>
        </p:txBody>
      </p:sp>
      <p:sp>
        <p:nvSpPr>
          <p:cNvPr id="136" name="TextBox 135"/>
          <p:cNvSpPr txBox="1"/>
          <p:nvPr/>
        </p:nvSpPr>
        <p:spPr>
          <a:xfrm>
            <a:off x="12335256" y="4023360"/>
            <a:ext cx="4754880" cy="100584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of all MCX trading is bullion, Q2 FY26 (44% a year earlier)</a:t>
            </a:r>
          </a:p>
        </p:txBody>
      </p:sp>
      <p:sp>
        <p:nvSpPr>
          <p:cNvPr id="137" name="TextBox 136"/>
          <p:cNvSpPr txBox="1"/>
          <p:nvPr/>
        </p:nvSpPr>
        <p:spPr>
          <a:xfrm>
            <a:off x="914400" y="5230368"/>
            <a:ext cx="16459200" cy="365760"/>
          </a:xfrm>
          <a:prstGeom prst="rect">
            <a:avLst/>
          </a:prstGeom>
          <a:noFill/>
        </p:spPr>
        <p:txBody>
          <a:bodyPr wrap="square" anchor="t" lIns="0" rIns="0" tIns="0" bIns="0">
            <a:spAutoFit/>
          </a:bodyPr>
          <a:lstStyle/>
          <a:p>
            <a:pPr algn="l">
              <a:spcAft>
                <a:spcPts val="0"/>
              </a:spcAft>
            </a:pPr>
            <a:r>
              <a:rPr sz="1600" b="0">
                <a:solidFill>
                  <a:srgbClr val="4A4A50"/>
                </a:solidFill>
                <a:latin typeface="Calibri"/>
              </a:rPr>
              <a:t>Sources: Business Today, 14 Aug 2026 (MCX data for FY2025-26); Business Standard, 7 Nov 2025 (MCX Q2 FY26 results).</a:t>
            </a:r>
          </a:p>
        </p:txBody>
      </p:sp>
      <p:sp>
        <p:nvSpPr>
          <p:cNvPr id="138" name="Oval 137"/>
          <p:cNvSpPr/>
          <p:nvPr/>
        </p:nvSpPr>
        <p:spPr>
          <a:xfrm>
            <a:off x="914400" y="5806440"/>
            <a:ext cx="658368" cy="65836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9" name="Picture 138" descr="users_w.png"/>
          <p:cNvPicPr>
            <a:picLocks noChangeAspect="1"/>
          </p:cNvPicPr>
          <p:nvPr/>
        </p:nvPicPr>
        <p:blipFill>
          <a:blip r:embed="rId4"/>
          <a:stretch>
            <a:fillRect/>
          </a:stretch>
        </p:blipFill>
        <p:spPr>
          <a:xfrm>
            <a:off x="1059240" y="5951280"/>
            <a:ext cx="368686" cy="368686"/>
          </a:xfrm>
          <a:prstGeom prst="rect">
            <a:avLst/>
          </a:prstGeom>
        </p:spPr>
      </p:pic>
      <p:sp>
        <p:nvSpPr>
          <p:cNvPr id="140" name="TextBox 139"/>
          <p:cNvSpPr txBox="1"/>
          <p:nvPr/>
        </p:nvSpPr>
        <p:spPr>
          <a:xfrm>
            <a:off x="1783080" y="5806440"/>
            <a:ext cx="7223760" cy="658368"/>
          </a:xfrm>
          <a:prstGeom prst="rect">
            <a:avLst/>
          </a:prstGeom>
          <a:noFill/>
        </p:spPr>
        <p:txBody>
          <a:bodyPr wrap="square" anchor="ctr" lIns="0" rIns="0" tIns="0" bIns="0">
            <a:spAutoFit/>
          </a:bodyPr>
          <a:lstStyle/>
          <a:p>
            <a:pPr algn="l">
              <a:spcAft>
                <a:spcPts val="0"/>
              </a:spcAft>
            </a:pPr>
            <a:r>
              <a:rPr sz="1900" b="1">
                <a:solidFill>
                  <a:srgbClr val="835A07"/>
                </a:solidFill>
                <a:latin typeface="Montserrat"/>
              </a:rPr>
              <a:t>TARGET USERS</a:t>
            </a:r>
          </a:p>
        </p:txBody>
      </p:sp>
      <p:sp>
        <p:nvSpPr>
          <p:cNvPr id="141" name="TextBox 140"/>
          <p:cNvSpPr txBox="1"/>
          <p:nvPr/>
        </p:nvSpPr>
        <p:spPr>
          <a:xfrm>
            <a:off x="1783080" y="6537959"/>
            <a:ext cx="7223760" cy="1234440"/>
          </a:xfrm>
          <a:prstGeom prst="rect">
            <a:avLst/>
          </a:prstGeom>
          <a:noFill/>
        </p:spPr>
        <p:txBody>
          <a:bodyPr wrap="square" anchor="t" lIns="0" rIns="0" tIns="0" bIns="0">
            <a:spAutoFit/>
          </a:bodyPr>
          <a:lstStyle/>
          <a:p>
            <a:pPr algn="l" marL="292608" indent="-292608">
              <a:spcAft>
                <a:spcPts val="300"/>
              </a:spcAft>
              <a:buClr>
                <a:srgbClr val="835A07"/>
              </a:buClr>
              <a:buChar char="•"/>
            </a:pPr>
            <a:r>
              <a:rPr sz="2000" b="0">
                <a:solidFill>
                  <a:srgbClr val="1D1D1F"/>
                </a:solidFill>
                <a:latin typeface="Calibri"/>
              </a:rPr>
              <a:t>Traders choosing which gold contract to trade</a:t>
            </a:r>
          </a:p>
          <a:p>
            <a:pPr algn="l" marL="292608" indent="-292608">
              <a:spcAft>
                <a:spcPts val="300"/>
              </a:spcAft>
              <a:buClr>
                <a:srgbClr val="835A07"/>
              </a:buClr>
              <a:buChar char="•"/>
            </a:pPr>
            <a:r>
              <a:rPr sz="2000" b="0">
                <a:solidFill>
                  <a:srgbClr val="1D1D1F"/>
                </a:solidFill>
                <a:latin typeface="Calibri"/>
              </a:rPr>
              <a:t>Arbitrage desks, jewellers hedging, broker research teams</a:t>
            </a:r>
          </a:p>
        </p:txBody>
      </p:sp>
      <p:sp>
        <p:nvSpPr>
          <p:cNvPr id="142" name="Oval 141"/>
          <p:cNvSpPr/>
          <p:nvPr/>
        </p:nvSpPr>
        <p:spPr>
          <a:xfrm>
            <a:off x="9281160" y="5806440"/>
            <a:ext cx="658368" cy="65836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3" name="Picture 142" descr="coins_w.png"/>
          <p:cNvPicPr>
            <a:picLocks noChangeAspect="1"/>
          </p:cNvPicPr>
          <p:nvPr/>
        </p:nvPicPr>
        <p:blipFill>
          <a:blip r:embed="rId5"/>
          <a:stretch>
            <a:fillRect/>
          </a:stretch>
        </p:blipFill>
        <p:spPr>
          <a:xfrm>
            <a:off x="9426000" y="5951280"/>
            <a:ext cx="368686" cy="368686"/>
          </a:xfrm>
          <a:prstGeom prst="rect">
            <a:avLst/>
          </a:prstGeom>
        </p:spPr>
      </p:pic>
      <p:sp>
        <p:nvSpPr>
          <p:cNvPr id="144" name="TextBox 143"/>
          <p:cNvSpPr txBox="1"/>
          <p:nvPr/>
        </p:nvSpPr>
        <p:spPr>
          <a:xfrm>
            <a:off x="10149840" y="5806440"/>
            <a:ext cx="7223760" cy="658368"/>
          </a:xfrm>
          <a:prstGeom prst="rect">
            <a:avLst/>
          </a:prstGeom>
          <a:noFill/>
        </p:spPr>
        <p:txBody>
          <a:bodyPr wrap="square" anchor="ctr" lIns="0" rIns="0" tIns="0" bIns="0">
            <a:spAutoFit/>
          </a:bodyPr>
          <a:lstStyle/>
          <a:p>
            <a:pPr algn="l">
              <a:spcAft>
                <a:spcPts val="0"/>
              </a:spcAft>
            </a:pPr>
            <a:r>
              <a:rPr sz="1900" b="1">
                <a:solidFill>
                  <a:srgbClr val="835A07"/>
                </a:solidFill>
                <a:latin typeface="Montserrat"/>
              </a:rPr>
              <a:t>MARKET SIZE</a:t>
            </a:r>
          </a:p>
        </p:txBody>
      </p:sp>
      <p:sp>
        <p:nvSpPr>
          <p:cNvPr id="145" name="TextBox 144"/>
          <p:cNvSpPr txBox="1"/>
          <p:nvPr/>
        </p:nvSpPr>
        <p:spPr>
          <a:xfrm>
            <a:off x="10149840" y="6537959"/>
            <a:ext cx="7223760" cy="1234440"/>
          </a:xfrm>
          <a:prstGeom prst="rect">
            <a:avLst/>
          </a:prstGeom>
          <a:noFill/>
        </p:spPr>
        <p:txBody>
          <a:bodyPr wrap="square" anchor="t" lIns="0" rIns="0" tIns="0" bIns="0">
            <a:spAutoFit/>
          </a:bodyPr>
          <a:lstStyle/>
          <a:p>
            <a:pPr algn="l" marL="292608" indent="-292608">
              <a:spcAft>
                <a:spcPts val="300"/>
              </a:spcAft>
              <a:buClr>
                <a:srgbClr val="835A07"/>
              </a:buClr>
              <a:buChar char="•"/>
            </a:pPr>
            <a:r>
              <a:rPr sz="2000" b="0">
                <a:solidFill>
                  <a:srgbClr val="1D1D1F"/>
                </a:solidFill>
                <a:latin typeface="Calibri"/>
              </a:rPr>
              <a:t>MCX trades ₹4.11 lakh crore a day across all contracts (Q2 FY26)</a:t>
            </a:r>
          </a:p>
          <a:p>
            <a:pPr algn="l" marL="292608" indent="-292608">
              <a:spcAft>
                <a:spcPts val="300"/>
              </a:spcAft>
              <a:buClr>
                <a:srgbClr val="835A07"/>
              </a:buClr>
              <a:buChar char="•"/>
            </a:pPr>
            <a:r>
              <a:rPr sz="2000" b="0">
                <a:solidFill>
                  <a:srgbClr val="1D1D1F"/>
                </a:solidFill>
                <a:latin typeface="Calibri"/>
              </a:rPr>
              <a:t>Gold comes in 1 kg, 100 g, 10 g, 8 g and 1 g lots</a:t>
            </a:r>
          </a:p>
        </p:txBody>
      </p:sp>
      <p:sp>
        <p:nvSpPr>
          <p:cNvPr id="146" name="Oval 145"/>
          <p:cNvSpPr/>
          <p:nvPr/>
        </p:nvSpPr>
        <p:spPr>
          <a:xfrm>
            <a:off x="914400" y="7818120"/>
            <a:ext cx="658368" cy="65836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7" name="Picture 146" descr="wallet_w.png"/>
          <p:cNvPicPr>
            <a:picLocks noChangeAspect="1"/>
          </p:cNvPicPr>
          <p:nvPr/>
        </p:nvPicPr>
        <p:blipFill>
          <a:blip r:embed="rId6"/>
          <a:stretch>
            <a:fillRect/>
          </a:stretch>
        </p:blipFill>
        <p:spPr>
          <a:xfrm>
            <a:off x="1059240" y="7962960"/>
            <a:ext cx="368686" cy="368686"/>
          </a:xfrm>
          <a:prstGeom prst="rect">
            <a:avLst/>
          </a:prstGeom>
        </p:spPr>
      </p:pic>
      <p:sp>
        <p:nvSpPr>
          <p:cNvPr id="148" name="TextBox 147"/>
          <p:cNvSpPr txBox="1"/>
          <p:nvPr/>
        </p:nvSpPr>
        <p:spPr>
          <a:xfrm>
            <a:off x="1783080" y="7818120"/>
            <a:ext cx="7223760" cy="658368"/>
          </a:xfrm>
          <a:prstGeom prst="rect">
            <a:avLst/>
          </a:prstGeom>
          <a:noFill/>
        </p:spPr>
        <p:txBody>
          <a:bodyPr wrap="square" anchor="ctr" lIns="0" rIns="0" tIns="0" bIns="0">
            <a:spAutoFit/>
          </a:bodyPr>
          <a:lstStyle/>
          <a:p>
            <a:pPr algn="l">
              <a:spcAft>
                <a:spcPts val="0"/>
              </a:spcAft>
            </a:pPr>
            <a:r>
              <a:rPr sz="1900" b="1">
                <a:solidFill>
                  <a:srgbClr val="835A07"/>
                </a:solidFill>
                <a:latin typeface="Montserrat"/>
              </a:rPr>
              <a:t>REVENUE MODEL (OUR PLAN)</a:t>
            </a:r>
          </a:p>
        </p:txBody>
      </p:sp>
      <p:sp>
        <p:nvSpPr>
          <p:cNvPr id="149" name="TextBox 148"/>
          <p:cNvSpPr txBox="1"/>
          <p:nvPr/>
        </p:nvSpPr>
        <p:spPr>
          <a:xfrm>
            <a:off x="1783080" y="8549640"/>
            <a:ext cx="7223760" cy="1234440"/>
          </a:xfrm>
          <a:prstGeom prst="rect">
            <a:avLst/>
          </a:prstGeom>
          <a:noFill/>
        </p:spPr>
        <p:txBody>
          <a:bodyPr wrap="square" anchor="t" lIns="0" rIns="0" tIns="0" bIns="0">
            <a:spAutoFit/>
          </a:bodyPr>
          <a:lstStyle/>
          <a:p>
            <a:pPr algn="l" marL="292608" indent="-292608">
              <a:spcAft>
                <a:spcPts val="300"/>
              </a:spcAft>
              <a:buClr>
                <a:srgbClr val="835A07"/>
              </a:buClr>
              <a:buChar char="•"/>
            </a:pPr>
            <a:r>
              <a:rPr sz="2000" b="0">
                <a:solidFill>
                  <a:srgbClr val="1D1D1F"/>
                </a:solidFill>
                <a:latin typeface="Calibri"/>
              </a:rPr>
              <a:t>Free dashboard; paid alerts by email or Telegram</a:t>
            </a:r>
          </a:p>
          <a:p>
            <a:pPr algn="l" marL="292608" indent="-292608">
              <a:spcAft>
                <a:spcPts val="300"/>
              </a:spcAft>
              <a:buClr>
                <a:srgbClr val="835A07"/>
              </a:buClr>
              <a:buChar char="•"/>
            </a:pPr>
            <a:r>
              <a:rPr sz="2000" b="0">
                <a:solidFill>
                  <a:srgbClr val="1D1D1F"/>
                </a:solidFill>
                <a:latin typeface="Calibri"/>
              </a:rPr>
              <a:t>Licence for broker research desks, and a data feed</a:t>
            </a:r>
          </a:p>
        </p:txBody>
      </p:sp>
      <p:sp>
        <p:nvSpPr>
          <p:cNvPr id="150" name="Oval 149"/>
          <p:cNvSpPr/>
          <p:nvPr/>
        </p:nvSpPr>
        <p:spPr>
          <a:xfrm>
            <a:off x="9281160" y="7818120"/>
            <a:ext cx="658368" cy="658368"/>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1" name="Picture 150" descr="trend_w.png"/>
          <p:cNvPicPr>
            <a:picLocks noChangeAspect="1"/>
          </p:cNvPicPr>
          <p:nvPr/>
        </p:nvPicPr>
        <p:blipFill>
          <a:blip r:embed="rId7"/>
          <a:stretch>
            <a:fillRect/>
          </a:stretch>
        </p:blipFill>
        <p:spPr>
          <a:xfrm>
            <a:off x="9426000" y="7962960"/>
            <a:ext cx="368686" cy="368686"/>
          </a:xfrm>
          <a:prstGeom prst="rect">
            <a:avLst/>
          </a:prstGeom>
        </p:spPr>
      </p:pic>
      <p:sp>
        <p:nvSpPr>
          <p:cNvPr id="152" name="TextBox 151"/>
          <p:cNvSpPr txBox="1"/>
          <p:nvPr/>
        </p:nvSpPr>
        <p:spPr>
          <a:xfrm>
            <a:off x="10149840" y="7818120"/>
            <a:ext cx="7223760" cy="658368"/>
          </a:xfrm>
          <a:prstGeom prst="rect">
            <a:avLst/>
          </a:prstGeom>
          <a:noFill/>
        </p:spPr>
        <p:txBody>
          <a:bodyPr wrap="square" anchor="ctr" lIns="0" rIns="0" tIns="0" bIns="0">
            <a:spAutoFit/>
          </a:bodyPr>
          <a:lstStyle/>
          <a:p>
            <a:pPr algn="l">
              <a:spcAft>
                <a:spcPts val="0"/>
              </a:spcAft>
            </a:pPr>
            <a:r>
              <a:rPr sz="1900" b="1">
                <a:solidFill>
                  <a:srgbClr val="835A07"/>
                </a:solidFill>
                <a:latin typeface="Montserrat"/>
              </a:rPr>
              <a:t>EXPECTED GROWTH</a:t>
            </a:r>
          </a:p>
        </p:txBody>
      </p:sp>
      <p:sp>
        <p:nvSpPr>
          <p:cNvPr id="153" name="TextBox 152"/>
          <p:cNvSpPr txBox="1"/>
          <p:nvPr/>
        </p:nvSpPr>
        <p:spPr>
          <a:xfrm>
            <a:off x="10149840" y="8549640"/>
            <a:ext cx="7223760" cy="1234440"/>
          </a:xfrm>
          <a:prstGeom prst="rect">
            <a:avLst/>
          </a:prstGeom>
          <a:noFill/>
        </p:spPr>
        <p:txBody>
          <a:bodyPr wrap="square" anchor="t" lIns="0" rIns="0" tIns="0" bIns="0">
            <a:spAutoFit/>
          </a:bodyPr>
          <a:lstStyle/>
          <a:p>
            <a:pPr algn="l" marL="292608" indent="-292608">
              <a:spcAft>
                <a:spcPts val="300"/>
              </a:spcAft>
              <a:buClr>
                <a:srgbClr val="835A07"/>
              </a:buClr>
              <a:buChar char="•"/>
            </a:pPr>
            <a:r>
              <a:rPr sz="2000" b="0">
                <a:solidFill>
                  <a:srgbClr val="1D1D1F"/>
                </a:solidFill>
                <a:latin typeface="Calibri"/>
              </a:rPr>
              <a:t>Small lots (10 g, 1 g) are bringing in new traders</a:t>
            </a:r>
          </a:p>
          <a:p>
            <a:pPr algn="l" marL="292608" indent="-292608">
              <a:spcAft>
                <a:spcPts val="300"/>
              </a:spcAft>
              <a:buClr>
                <a:srgbClr val="835A07"/>
              </a:buClr>
              <a:buChar char="•"/>
            </a:pPr>
            <a:r>
              <a:rPr sz="2000" b="0">
                <a:solidFill>
                  <a:srgbClr val="1D1D1F"/>
                </a:solidFill>
                <a:latin typeface="Calibri"/>
              </a:rPr>
              <a:t>Same method extends to silver: SILVERM, SILVERMIC</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4" name="Google Shape;134;p18" title="pptnlogo.png"/>
          <p:cNvPicPr preferRelativeResize="0"/>
          <p:nvPr/>
        </p:nvPicPr>
        <p:blipFill>
          <a:blip r:embed="rId3">
            <a:alphaModFix/>
          </a:blip>
          <a:stretch>
            <a:fillRect/>
          </a:stretch>
        </p:blipFill>
        <p:spPr>
          <a:xfrm>
            <a:off x="0" y="0"/>
            <a:ext cx="18288000" cy="1205517"/>
          </a:xfrm>
          <a:prstGeom prst="rect">
            <a:avLst/>
          </a:prstGeom>
          <a:noFill/>
          <a:ln>
            <a:noFill/>
          </a:ln>
        </p:spPr>
      </p:pic>
      <p:sp>
        <p:nvSpPr>
          <p:cNvPr id="135" name="Kicker"/>
          <p:cNvSpPr txBox="1"/>
          <p:nvPr/>
        </p:nvSpPr>
        <p:spPr>
          <a:xfrm>
            <a:off x="914400" y="1463040"/>
            <a:ext cx="1645920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FUTURE SCOPE</a:t>
            </a:r>
          </a:p>
        </p:txBody>
      </p:sp>
      <p:sp>
        <p:nvSpPr>
          <p:cNvPr id="136" name="Title"/>
          <p:cNvSpPr txBox="1"/>
          <p:nvPr/>
        </p:nvSpPr>
        <p:spPr>
          <a:xfrm>
            <a:off x="914400" y="1828800"/>
            <a:ext cx="16459200" cy="777240"/>
          </a:xfrm>
          <a:prstGeom prst="rect">
            <a:avLst/>
          </a:prstGeom>
          <a:noFill/>
        </p:spPr>
        <p:txBody>
          <a:bodyPr wrap="square" anchor="t" lIns="0" rIns="0" tIns="0" bIns="0">
            <a:spAutoFit/>
          </a:bodyPr>
          <a:lstStyle/>
          <a:p>
            <a:pPr algn="l">
              <a:spcAft>
                <a:spcPts val="0"/>
              </a:spcAft>
            </a:pPr>
            <a:r>
              <a:rPr sz="4000" b="1">
                <a:solidFill>
                  <a:srgbClr val="1D1D1F"/>
                </a:solidFill>
                <a:latin typeface="Montserrat"/>
              </a:rPr>
              <a:t>What comes next</a:t>
            </a:r>
          </a:p>
        </p:txBody>
      </p:sp>
      <p:sp>
        <p:nvSpPr>
          <p:cNvPr id="137" name="Live paper trading"/>
          <p:cNvSpPr/>
          <p:nvPr/>
        </p:nvSpPr>
        <p:spPr>
          <a:xfrm>
            <a:off x="914400" y="2880360"/>
            <a:ext cx="5303520" cy="3200400"/>
          </a:xfrm>
          <a:prstGeom prst="roundRect">
            <a:avLst>
              <a:gd name="adj" fmla="val 5000"/>
            </a:avLst>
          </a:prstGeom>
          <a:solidFill>
            <a:srgbClr val="FBF4E4"/>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34440" y="3200400"/>
            <a:ext cx="822960" cy="82296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9" name="Picture 138" descr="activity_w.png"/>
          <p:cNvPicPr>
            <a:picLocks noChangeAspect="1"/>
          </p:cNvPicPr>
          <p:nvPr/>
        </p:nvPicPr>
        <p:blipFill>
          <a:blip r:embed="rId4"/>
          <a:stretch>
            <a:fillRect/>
          </a:stretch>
        </p:blipFill>
        <p:spPr>
          <a:xfrm>
            <a:off x="1415491" y="3381451"/>
            <a:ext cx="460857" cy="460857"/>
          </a:xfrm>
          <a:prstGeom prst="rect">
            <a:avLst/>
          </a:prstGeom>
        </p:spPr>
      </p:pic>
      <p:sp>
        <p:nvSpPr>
          <p:cNvPr id="140" name="TextBox 139"/>
          <p:cNvSpPr txBox="1"/>
          <p:nvPr/>
        </p:nvSpPr>
        <p:spPr>
          <a:xfrm>
            <a:off x="5120640" y="3200400"/>
            <a:ext cx="822960" cy="822960"/>
          </a:xfrm>
          <a:prstGeom prst="rect">
            <a:avLst/>
          </a:prstGeom>
          <a:noFill/>
        </p:spPr>
        <p:txBody>
          <a:bodyPr wrap="square" anchor="t" lIns="0" rIns="0" tIns="0" bIns="0">
            <a:spAutoFit/>
          </a:bodyPr>
          <a:lstStyle/>
          <a:p>
            <a:pPr algn="r">
              <a:spcAft>
                <a:spcPts val="0"/>
              </a:spcAft>
            </a:pPr>
            <a:r>
              <a:rPr sz="2600" b="1">
                <a:solidFill>
                  <a:srgbClr val="835A07"/>
                </a:solidFill>
                <a:latin typeface="Montserrat"/>
              </a:rPr>
              <a:t>01</a:t>
            </a:r>
          </a:p>
        </p:txBody>
      </p:sp>
      <p:sp>
        <p:nvSpPr>
          <p:cNvPr id="141" name="TextBox 140"/>
          <p:cNvSpPr txBox="1"/>
          <p:nvPr/>
        </p:nvSpPr>
        <p:spPr>
          <a:xfrm>
            <a:off x="1234440" y="4206240"/>
            <a:ext cx="4663440" cy="457200"/>
          </a:xfrm>
          <a:prstGeom prst="rect">
            <a:avLst/>
          </a:prstGeom>
          <a:noFill/>
        </p:spPr>
        <p:txBody>
          <a:bodyPr wrap="square" anchor="t" lIns="0" rIns="0" tIns="0" bIns="0">
            <a:spAutoFit/>
          </a:bodyPr>
          <a:lstStyle/>
          <a:p>
            <a:pPr algn="l">
              <a:spcAft>
                <a:spcPts val="0"/>
              </a:spcAft>
            </a:pPr>
            <a:r>
              <a:rPr sz="2500" b="1">
                <a:solidFill>
                  <a:srgbClr val="1D1D1F"/>
                </a:solidFill>
                <a:latin typeface="Calibri"/>
              </a:rPr>
              <a:t>Live paper trading</a:t>
            </a:r>
          </a:p>
        </p:txBody>
      </p:sp>
      <p:sp>
        <p:nvSpPr>
          <p:cNvPr id="142" name="TextBox 141"/>
          <p:cNvSpPr txBox="1"/>
          <p:nvPr/>
        </p:nvSpPr>
        <p:spPr>
          <a:xfrm>
            <a:off x="1234440" y="4754879"/>
            <a:ext cx="4663440" cy="118872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Run the fair-price rule every day on new MCX files, before any real money</a:t>
            </a:r>
          </a:p>
        </p:txBody>
      </p:sp>
      <p:sp>
        <p:nvSpPr>
          <p:cNvPr id="143" name="Intraday prices"/>
          <p:cNvSpPr/>
          <p:nvPr/>
        </p:nvSpPr>
        <p:spPr>
          <a:xfrm>
            <a:off x="6464808" y="2880360"/>
            <a:ext cx="5303520" cy="32004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6784848" y="3200400"/>
            <a:ext cx="822960" cy="82296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5" name="Picture 144" descr="clock_w.png"/>
          <p:cNvPicPr>
            <a:picLocks noChangeAspect="1"/>
          </p:cNvPicPr>
          <p:nvPr/>
        </p:nvPicPr>
        <p:blipFill>
          <a:blip r:embed="rId5"/>
          <a:stretch>
            <a:fillRect/>
          </a:stretch>
        </p:blipFill>
        <p:spPr>
          <a:xfrm>
            <a:off x="6965899" y="3381451"/>
            <a:ext cx="460857" cy="460857"/>
          </a:xfrm>
          <a:prstGeom prst="rect">
            <a:avLst/>
          </a:prstGeom>
        </p:spPr>
      </p:pic>
      <p:sp>
        <p:nvSpPr>
          <p:cNvPr id="146" name="TextBox 145"/>
          <p:cNvSpPr txBox="1"/>
          <p:nvPr/>
        </p:nvSpPr>
        <p:spPr>
          <a:xfrm>
            <a:off x="10671048" y="3200400"/>
            <a:ext cx="822960" cy="822960"/>
          </a:xfrm>
          <a:prstGeom prst="rect">
            <a:avLst/>
          </a:prstGeom>
          <a:noFill/>
        </p:spPr>
        <p:txBody>
          <a:bodyPr wrap="square" anchor="t" lIns="0" rIns="0" tIns="0" bIns="0">
            <a:spAutoFit/>
          </a:bodyPr>
          <a:lstStyle/>
          <a:p>
            <a:pPr algn="r">
              <a:spcAft>
                <a:spcPts val="0"/>
              </a:spcAft>
            </a:pPr>
            <a:r>
              <a:rPr sz="2600" b="1">
                <a:solidFill>
                  <a:srgbClr val="DDD6C8"/>
                </a:solidFill>
                <a:latin typeface="Montserrat"/>
              </a:rPr>
              <a:t>02</a:t>
            </a:r>
          </a:p>
        </p:txBody>
      </p:sp>
      <p:sp>
        <p:nvSpPr>
          <p:cNvPr id="147" name="TextBox 146"/>
          <p:cNvSpPr txBox="1"/>
          <p:nvPr/>
        </p:nvSpPr>
        <p:spPr>
          <a:xfrm>
            <a:off x="6784848" y="4206240"/>
            <a:ext cx="4663440" cy="457200"/>
          </a:xfrm>
          <a:prstGeom prst="rect">
            <a:avLst/>
          </a:prstGeom>
          <a:noFill/>
        </p:spPr>
        <p:txBody>
          <a:bodyPr wrap="square" anchor="t" lIns="0" rIns="0" tIns="0" bIns="0">
            <a:spAutoFit/>
          </a:bodyPr>
          <a:lstStyle/>
          <a:p>
            <a:pPr algn="l">
              <a:spcAft>
                <a:spcPts val="0"/>
              </a:spcAft>
            </a:pPr>
            <a:r>
              <a:rPr sz="2500" b="1">
                <a:solidFill>
                  <a:srgbClr val="1D1D1F"/>
                </a:solidFill>
                <a:latin typeface="Calibri"/>
              </a:rPr>
              <a:t>Intraday prices</a:t>
            </a:r>
          </a:p>
        </p:txBody>
      </p:sp>
      <p:sp>
        <p:nvSpPr>
          <p:cNvPr id="148" name="TextBox 147"/>
          <p:cNvSpPr txBox="1"/>
          <p:nvPr/>
        </p:nvSpPr>
        <p:spPr>
          <a:xfrm>
            <a:off x="6784848" y="4754879"/>
            <a:ext cx="4663440" cy="118872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Measure real trading costs instead of assuming them</a:t>
            </a:r>
          </a:p>
        </p:txBody>
      </p:sp>
      <p:sp>
        <p:nvSpPr>
          <p:cNvPr id="149" name="Alerts on your phone"/>
          <p:cNvSpPr/>
          <p:nvPr/>
        </p:nvSpPr>
        <p:spPr>
          <a:xfrm>
            <a:off x="12015216" y="2880360"/>
            <a:ext cx="5303520" cy="32004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12335256" y="3200400"/>
            <a:ext cx="822960" cy="82296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1" name="Picture 150" descr="bell_w.png"/>
          <p:cNvPicPr>
            <a:picLocks noChangeAspect="1"/>
          </p:cNvPicPr>
          <p:nvPr/>
        </p:nvPicPr>
        <p:blipFill>
          <a:blip r:embed="rId6"/>
          <a:stretch>
            <a:fillRect/>
          </a:stretch>
        </p:blipFill>
        <p:spPr>
          <a:xfrm>
            <a:off x="12516307" y="3381451"/>
            <a:ext cx="460857" cy="460857"/>
          </a:xfrm>
          <a:prstGeom prst="rect">
            <a:avLst/>
          </a:prstGeom>
        </p:spPr>
      </p:pic>
      <p:sp>
        <p:nvSpPr>
          <p:cNvPr id="152" name="TextBox 151"/>
          <p:cNvSpPr txBox="1"/>
          <p:nvPr/>
        </p:nvSpPr>
        <p:spPr>
          <a:xfrm>
            <a:off x="16221456" y="3200400"/>
            <a:ext cx="822960" cy="822960"/>
          </a:xfrm>
          <a:prstGeom prst="rect">
            <a:avLst/>
          </a:prstGeom>
          <a:noFill/>
        </p:spPr>
        <p:txBody>
          <a:bodyPr wrap="square" anchor="t" lIns="0" rIns="0" tIns="0" bIns="0">
            <a:spAutoFit/>
          </a:bodyPr>
          <a:lstStyle/>
          <a:p>
            <a:pPr algn="r">
              <a:spcAft>
                <a:spcPts val="0"/>
              </a:spcAft>
            </a:pPr>
            <a:r>
              <a:rPr sz="2600" b="1">
                <a:solidFill>
                  <a:srgbClr val="DDD6C8"/>
                </a:solidFill>
                <a:latin typeface="Montserrat"/>
              </a:rPr>
              <a:t>03</a:t>
            </a:r>
          </a:p>
        </p:txBody>
      </p:sp>
      <p:sp>
        <p:nvSpPr>
          <p:cNvPr id="153" name="TextBox 152"/>
          <p:cNvSpPr txBox="1"/>
          <p:nvPr/>
        </p:nvSpPr>
        <p:spPr>
          <a:xfrm>
            <a:off x="12335256" y="4206240"/>
            <a:ext cx="4663440" cy="457200"/>
          </a:xfrm>
          <a:prstGeom prst="rect">
            <a:avLst/>
          </a:prstGeom>
          <a:noFill/>
        </p:spPr>
        <p:txBody>
          <a:bodyPr wrap="square" anchor="t" lIns="0" rIns="0" tIns="0" bIns="0">
            <a:spAutoFit/>
          </a:bodyPr>
          <a:lstStyle/>
          <a:p>
            <a:pPr algn="l">
              <a:spcAft>
                <a:spcPts val="0"/>
              </a:spcAft>
            </a:pPr>
            <a:r>
              <a:rPr sz="2500" b="1">
                <a:solidFill>
                  <a:srgbClr val="1D1D1F"/>
                </a:solidFill>
                <a:latin typeface="Calibri"/>
              </a:rPr>
              <a:t>Alerts on your phone</a:t>
            </a:r>
          </a:p>
        </p:txBody>
      </p:sp>
      <p:sp>
        <p:nvSpPr>
          <p:cNvPr id="154" name="TextBox 153"/>
          <p:cNvSpPr txBox="1"/>
          <p:nvPr/>
        </p:nvSpPr>
        <p:spPr>
          <a:xfrm>
            <a:off x="12335256" y="4754879"/>
            <a:ext cx="4663440" cy="118872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Email and Telegram alerts that show the cost of acting</a:t>
            </a:r>
          </a:p>
        </p:txBody>
      </p:sp>
      <p:sp>
        <p:nvSpPr>
          <p:cNvPr id="155" name="Longer history"/>
          <p:cNvSpPr/>
          <p:nvPr/>
        </p:nvSpPr>
        <p:spPr>
          <a:xfrm>
            <a:off x="914400" y="6355079"/>
            <a:ext cx="5303520" cy="32004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1234440" y="6675119"/>
            <a:ext cx="822960" cy="82296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7" name="Picture 156" descr="layers_w.png"/>
          <p:cNvPicPr>
            <a:picLocks noChangeAspect="1"/>
          </p:cNvPicPr>
          <p:nvPr/>
        </p:nvPicPr>
        <p:blipFill>
          <a:blip r:embed="rId7"/>
          <a:stretch>
            <a:fillRect/>
          </a:stretch>
        </p:blipFill>
        <p:spPr>
          <a:xfrm>
            <a:off x="1415491" y="6856171"/>
            <a:ext cx="460857" cy="460857"/>
          </a:xfrm>
          <a:prstGeom prst="rect">
            <a:avLst/>
          </a:prstGeom>
        </p:spPr>
      </p:pic>
      <p:sp>
        <p:nvSpPr>
          <p:cNvPr id="158" name="TextBox 157"/>
          <p:cNvSpPr txBox="1"/>
          <p:nvPr/>
        </p:nvSpPr>
        <p:spPr>
          <a:xfrm>
            <a:off x="5120640" y="6675119"/>
            <a:ext cx="822960" cy="822960"/>
          </a:xfrm>
          <a:prstGeom prst="rect">
            <a:avLst/>
          </a:prstGeom>
          <a:noFill/>
        </p:spPr>
        <p:txBody>
          <a:bodyPr wrap="square" anchor="t" lIns="0" rIns="0" tIns="0" bIns="0">
            <a:spAutoFit/>
          </a:bodyPr>
          <a:lstStyle/>
          <a:p>
            <a:pPr algn="r">
              <a:spcAft>
                <a:spcPts val="0"/>
              </a:spcAft>
            </a:pPr>
            <a:r>
              <a:rPr sz="2600" b="1">
                <a:solidFill>
                  <a:srgbClr val="DDD6C8"/>
                </a:solidFill>
                <a:latin typeface="Montserrat"/>
              </a:rPr>
              <a:t>04</a:t>
            </a:r>
          </a:p>
        </p:txBody>
      </p:sp>
      <p:sp>
        <p:nvSpPr>
          <p:cNvPr id="159" name="TextBox 158"/>
          <p:cNvSpPr txBox="1"/>
          <p:nvPr/>
        </p:nvSpPr>
        <p:spPr>
          <a:xfrm>
            <a:off x="1234440" y="7680959"/>
            <a:ext cx="4663440" cy="457200"/>
          </a:xfrm>
          <a:prstGeom prst="rect">
            <a:avLst/>
          </a:prstGeom>
          <a:noFill/>
        </p:spPr>
        <p:txBody>
          <a:bodyPr wrap="square" anchor="t" lIns="0" rIns="0" tIns="0" bIns="0">
            <a:spAutoFit/>
          </a:bodyPr>
          <a:lstStyle/>
          <a:p>
            <a:pPr algn="l">
              <a:spcAft>
                <a:spcPts val="0"/>
              </a:spcAft>
            </a:pPr>
            <a:r>
              <a:rPr sz="2500" b="1">
                <a:solidFill>
                  <a:srgbClr val="1D1D1F"/>
                </a:solidFill>
                <a:latin typeface="Calibri"/>
              </a:rPr>
              <a:t>Longer history</a:t>
            </a:r>
          </a:p>
        </p:txBody>
      </p:sp>
      <p:sp>
        <p:nvSpPr>
          <p:cNvPr id="160" name="TextBox 159"/>
          <p:cNvSpPr txBox="1"/>
          <p:nvPr/>
        </p:nvSpPr>
        <p:spPr>
          <a:xfrm>
            <a:off x="1234440" y="8229600"/>
            <a:ext cx="4663440" cy="118872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Measure the coin and 1 g premiums back to 2008</a:t>
            </a:r>
          </a:p>
        </p:txBody>
      </p:sp>
      <p:sp>
        <p:nvSpPr>
          <p:cNvPr id="161" name="Safer rules"/>
          <p:cNvSpPr/>
          <p:nvPr/>
        </p:nvSpPr>
        <p:spPr>
          <a:xfrm>
            <a:off x="6464808" y="6355079"/>
            <a:ext cx="5303520" cy="32004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6784848" y="6675119"/>
            <a:ext cx="822960" cy="82296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3" name="Picture 162" descr="lock_w.png"/>
          <p:cNvPicPr>
            <a:picLocks noChangeAspect="1"/>
          </p:cNvPicPr>
          <p:nvPr/>
        </p:nvPicPr>
        <p:blipFill>
          <a:blip r:embed="rId8"/>
          <a:stretch>
            <a:fillRect/>
          </a:stretch>
        </p:blipFill>
        <p:spPr>
          <a:xfrm>
            <a:off x="6965899" y="6856171"/>
            <a:ext cx="460857" cy="460857"/>
          </a:xfrm>
          <a:prstGeom prst="rect">
            <a:avLst/>
          </a:prstGeom>
        </p:spPr>
      </p:pic>
      <p:sp>
        <p:nvSpPr>
          <p:cNvPr id="164" name="TextBox 163"/>
          <p:cNvSpPr txBox="1"/>
          <p:nvPr/>
        </p:nvSpPr>
        <p:spPr>
          <a:xfrm>
            <a:off x="10671048" y="6675119"/>
            <a:ext cx="822960" cy="822960"/>
          </a:xfrm>
          <a:prstGeom prst="rect">
            <a:avLst/>
          </a:prstGeom>
          <a:noFill/>
        </p:spPr>
        <p:txBody>
          <a:bodyPr wrap="square" anchor="t" lIns="0" rIns="0" tIns="0" bIns="0">
            <a:spAutoFit/>
          </a:bodyPr>
          <a:lstStyle/>
          <a:p>
            <a:pPr algn="r">
              <a:spcAft>
                <a:spcPts val="0"/>
              </a:spcAft>
            </a:pPr>
            <a:r>
              <a:rPr sz="2600" b="1">
                <a:solidFill>
                  <a:srgbClr val="DDD6C8"/>
                </a:solidFill>
                <a:latin typeface="Montserrat"/>
              </a:rPr>
              <a:t>05</a:t>
            </a:r>
          </a:p>
        </p:txBody>
      </p:sp>
      <p:sp>
        <p:nvSpPr>
          <p:cNvPr id="165" name="TextBox 164"/>
          <p:cNvSpPr txBox="1"/>
          <p:nvPr/>
        </p:nvSpPr>
        <p:spPr>
          <a:xfrm>
            <a:off x="6784848" y="7680959"/>
            <a:ext cx="4663440" cy="457200"/>
          </a:xfrm>
          <a:prstGeom prst="rect">
            <a:avLst/>
          </a:prstGeom>
          <a:noFill/>
        </p:spPr>
        <p:txBody>
          <a:bodyPr wrap="square" anchor="t" lIns="0" rIns="0" tIns="0" bIns="0">
            <a:spAutoFit/>
          </a:bodyPr>
          <a:lstStyle/>
          <a:p>
            <a:pPr algn="l">
              <a:spcAft>
                <a:spcPts val="0"/>
              </a:spcAft>
            </a:pPr>
            <a:r>
              <a:rPr sz="2500" b="1">
                <a:solidFill>
                  <a:srgbClr val="1D1D1F"/>
                </a:solidFill>
                <a:latin typeface="Calibri"/>
              </a:rPr>
              <a:t>Safer rules</a:t>
            </a:r>
          </a:p>
        </p:txBody>
      </p:sp>
      <p:sp>
        <p:nvSpPr>
          <p:cNvPr id="166" name="TextBox 165"/>
          <p:cNvSpPr txBox="1"/>
          <p:nvPr/>
        </p:nvSpPr>
        <p:spPr>
          <a:xfrm>
            <a:off x="6784848" y="8229600"/>
            <a:ext cx="4663440" cy="118872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Skip days stuck at the price limit; cross-check with spot gold rates</a:t>
            </a:r>
          </a:p>
        </p:txBody>
      </p:sp>
      <p:sp>
        <p:nvSpPr>
          <p:cNvPr id="167" name="More metals"/>
          <p:cNvSpPr/>
          <p:nvPr/>
        </p:nvSpPr>
        <p:spPr>
          <a:xfrm>
            <a:off x="12015216" y="6355079"/>
            <a:ext cx="5303520" cy="3200400"/>
          </a:xfrm>
          <a:prstGeom prst="roundRect">
            <a:avLst>
              <a:gd name="adj" fmla="val 5000"/>
            </a:avLst>
          </a:prstGeom>
          <a:solidFill>
            <a:srgbClr val="FFFFFF"/>
          </a:solidFill>
          <a:ln w="19050">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12335256" y="6675119"/>
            <a:ext cx="822960" cy="82296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9" name="Picture 168" descr="coins_w.png"/>
          <p:cNvPicPr>
            <a:picLocks noChangeAspect="1"/>
          </p:cNvPicPr>
          <p:nvPr/>
        </p:nvPicPr>
        <p:blipFill>
          <a:blip r:embed="rId9"/>
          <a:stretch>
            <a:fillRect/>
          </a:stretch>
        </p:blipFill>
        <p:spPr>
          <a:xfrm>
            <a:off x="12516307" y="6856171"/>
            <a:ext cx="460857" cy="460857"/>
          </a:xfrm>
          <a:prstGeom prst="rect">
            <a:avLst/>
          </a:prstGeom>
        </p:spPr>
      </p:pic>
      <p:sp>
        <p:nvSpPr>
          <p:cNvPr id="170" name="TextBox 169"/>
          <p:cNvSpPr txBox="1"/>
          <p:nvPr/>
        </p:nvSpPr>
        <p:spPr>
          <a:xfrm>
            <a:off x="16221456" y="6675119"/>
            <a:ext cx="822960" cy="822960"/>
          </a:xfrm>
          <a:prstGeom prst="rect">
            <a:avLst/>
          </a:prstGeom>
          <a:noFill/>
        </p:spPr>
        <p:txBody>
          <a:bodyPr wrap="square" anchor="t" lIns="0" rIns="0" tIns="0" bIns="0">
            <a:spAutoFit/>
          </a:bodyPr>
          <a:lstStyle/>
          <a:p>
            <a:pPr algn="r">
              <a:spcAft>
                <a:spcPts val="0"/>
              </a:spcAft>
            </a:pPr>
            <a:r>
              <a:rPr sz="2600" b="1">
                <a:solidFill>
                  <a:srgbClr val="DDD6C8"/>
                </a:solidFill>
                <a:latin typeface="Montserrat"/>
              </a:rPr>
              <a:t>06</a:t>
            </a:r>
          </a:p>
        </p:txBody>
      </p:sp>
      <p:sp>
        <p:nvSpPr>
          <p:cNvPr id="171" name="TextBox 170"/>
          <p:cNvSpPr txBox="1"/>
          <p:nvPr/>
        </p:nvSpPr>
        <p:spPr>
          <a:xfrm>
            <a:off x="12335256" y="7680959"/>
            <a:ext cx="4663440" cy="457200"/>
          </a:xfrm>
          <a:prstGeom prst="rect">
            <a:avLst/>
          </a:prstGeom>
          <a:noFill/>
        </p:spPr>
        <p:txBody>
          <a:bodyPr wrap="square" anchor="t" lIns="0" rIns="0" tIns="0" bIns="0">
            <a:spAutoFit/>
          </a:bodyPr>
          <a:lstStyle/>
          <a:p>
            <a:pPr algn="l">
              <a:spcAft>
                <a:spcPts val="0"/>
              </a:spcAft>
            </a:pPr>
            <a:r>
              <a:rPr sz="2500" b="1">
                <a:solidFill>
                  <a:srgbClr val="1D1D1F"/>
                </a:solidFill>
                <a:latin typeface="Calibri"/>
              </a:rPr>
              <a:t>More metals</a:t>
            </a:r>
          </a:p>
        </p:txBody>
      </p:sp>
      <p:sp>
        <p:nvSpPr>
          <p:cNvPr id="172" name="TextBox 171"/>
          <p:cNvSpPr txBox="1"/>
          <p:nvPr/>
        </p:nvSpPr>
        <p:spPr>
          <a:xfrm>
            <a:off x="12335256" y="8229600"/>
            <a:ext cx="4663440" cy="1188720"/>
          </a:xfrm>
          <a:prstGeom prst="rect">
            <a:avLst/>
          </a:prstGeom>
          <a:noFill/>
        </p:spPr>
        <p:txBody>
          <a:bodyPr wrap="square" anchor="t" lIns="0" rIns="0" tIns="0" bIns="0">
            <a:spAutoFit/>
          </a:bodyPr>
          <a:lstStyle/>
          <a:p>
            <a:pPr algn="l">
              <a:spcAft>
                <a:spcPts val="0"/>
              </a:spcAft>
            </a:pPr>
            <a:r>
              <a:rPr sz="2000" b="0">
                <a:solidFill>
                  <a:srgbClr val="4A4A50"/>
                </a:solidFill>
                <a:latin typeface="Calibri"/>
              </a:rPr>
              <a:t>The same method for silver and other multi-size contracts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pic>
        <p:nvPicPr>
          <p:cNvPr id="143" name="Google Shape;143;p19" title="pptnlogo.png"/>
          <p:cNvPicPr preferRelativeResize="0"/>
          <p:nvPr/>
        </p:nvPicPr>
        <p:blipFill>
          <a:blip r:embed="rId3">
            <a:alphaModFix/>
          </a:blip>
          <a:stretch>
            <a:fillRect/>
          </a:stretch>
        </p:blipFill>
        <p:spPr>
          <a:xfrm>
            <a:off x="0" y="0"/>
            <a:ext cx="18288000" cy="1205517"/>
          </a:xfrm>
          <a:prstGeom prst="rect">
            <a:avLst/>
          </a:prstGeom>
          <a:noFill/>
          <a:ln>
            <a:noFill/>
          </a:ln>
        </p:spPr>
      </p:pic>
      <p:sp>
        <p:nvSpPr>
          <p:cNvPr id="144" name="Kicker"/>
          <p:cNvSpPr txBox="1"/>
          <p:nvPr/>
        </p:nvSpPr>
        <p:spPr>
          <a:xfrm>
            <a:off x="914400" y="1463040"/>
            <a:ext cx="16459200" cy="365760"/>
          </a:xfrm>
          <a:prstGeom prst="rect">
            <a:avLst/>
          </a:prstGeom>
          <a:noFill/>
        </p:spPr>
        <p:txBody>
          <a:bodyPr wrap="square" anchor="t" lIns="0" rIns="0" tIns="0" bIns="0">
            <a:spAutoFit/>
          </a:bodyPr>
          <a:lstStyle/>
          <a:p>
            <a:pPr algn="l">
              <a:spcAft>
                <a:spcPts val="0"/>
              </a:spcAft>
            </a:pPr>
            <a:r>
              <a:rPr sz="1800" b="1">
                <a:solidFill>
                  <a:srgbClr val="835A07"/>
                </a:solidFill>
                <a:latin typeface="Montserrat"/>
              </a:rPr>
              <a:t>EXTRA: RESULTS</a:t>
            </a:r>
          </a:p>
        </p:txBody>
      </p:sp>
      <p:sp>
        <p:nvSpPr>
          <p:cNvPr id="145" name="Title"/>
          <p:cNvSpPr txBox="1"/>
          <p:nvPr/>
        </p:nvSpPr>
        <p:spPr>
          <a:xfrm>
            <a:off x="914400" y="1828800"/>
            <a:ext cx="16459200" cy="777240"/>
          </a:xfrm>
          <a:prstGeom prst="rect">
            <a:avLst/>
          </a:prstGeom>
          <a:noFill/>
        </p:spPr>
        <p:txBody>
          <a:bodyPr wrap="square" anchor="t" lIns="0" rIns="0" tIns="0" bIns="0">
            <a:spAutoFit/>
          </a:bodyPr>
          <a:lstStyle/>
          <a:p>
            <a:pPr algn="l">
              <a:spcAft>
                <a:spcPts val="0"/>
              </a:spcAft>
            </a:pPr>
            <a:r>
              <a:rPr sz="4000" b="1">
                <a:solidFill>
                  <a:srgbClr val="1D1D1F"/>
                </a:solidFill>
                <a:latin typeface="Montserrat"/>
              </a:rPr>
              <a:t>Tested on 8 years it had never seen</a:t>
            </a:r>
          </a:p>
        </p:txBody>
      </p:sp>
      <p:pic>
        <p:nvPicPr>
          <p:cNvPr id="146" name="Sealed tests chart" descr="deck_sealed.png"/>
          <p:cNvPicPr>
            <a:picLocks noChangeAspect="1"/>
          </p:cNvPicPr>
          <p:nvPr/>
        </p:nvPicPr>
        <p:blipFill>
          <a:blip r:embed="rId4"/>
          <a:stretch>
            <a:fillRect/>
          </a:stretch>
        </p:blipFill>
        <p:spPr>
          <a:xfrm>
            <a:off x="914400" y="2788920"/>
            <a:ext cx="9509760" cy="4937760"/>
          </a:xfrm>
          <a:prstGeom prst="rect">
            <a:avLst/>
          </a:prstGeom>
        </p:spPr>
      </p:pic>
      <p:sp>
        <p:nvSpPr>
          <p:cNvPr id="147" name="TextBox 146"/>
          <p:cNvSpPr txBox="1"/>
          <p:nvPr/>
        </p:nvSpPr>
        <p:spPr>
          <a:xfrm>
            <a:off x="914400" y="7772400"/>
            <a:ext cx="9509760" cy="365760"/>
          </a:xfrm>
          <a:prstGeom prst="rect">
            <a:avLst/>
          </a:prstGeom>
          <a:noFill/>
        </p:spPr>
        <p:txBody>
          <a:bodyPr wrap="square" anchor="t" lIns="0" rIns="0" tIns="0" bIns="0">
            <a:spAutoFit/>
          </a:bodyPr>
          <a:lstStyle/>
          <a:p>
            <a:pPr algn="l">
              <a:spcAft>
                <a:spcPts val="0"/>
              </a:spcAft>
            </a:pPr>
            <a:r>
              <a:rPr sz="1600" b="0">
                <a:solidFill>
                  <a:srgbClr val="4A4A50"/>
                </a:solidFill>
                <a:latin typeface="Calibri"/>
              </a:rPr>
              <a:t>Net profit after all costs, 5 bp slippage. Each window run once, with rules frozen first.</a:t>
            </a:r>
          </a:p>
        </p:txBody>
      </p:sp>
      <p:sp>
        <p:nvSpPr>
          <p:cNvPr id="148" name="Oval 147"/>
          <p:cNvSpPr/>
          <p:nvPr/>
        </p:nvSpPr>
        <p:spPr>
          <a:xfrm>
            <a:off x="10881360" y="3017520"/>
            <a:ext cx="685800" cy="685800"/>
          </a:xfrm>
          <a:prstGeom prst="ellipse">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9" name="Picture 148" descr="zap.png"/>
          <p:cNvPicPr>
            <a:picLocks noChangeAspect="1"/>
          </p:cNvPicPr>
          <p:nvPr/>
        </p:nvPicPr>
        <p:blipFill>
          <a:blip r:embed="rId5"/>
          <a:stretch>
            <a:fillRect/>
          </a:stretch>
        </p:blipFill>
        <p:spPr>
          <a:xfrm>
            <a:off x="11032236" y="3168396"/>
            <a:ext cx="384048" cy="384048"/>
          </a:xfrm>
          <a:prstGeom prst="rect">
            <a:avLst/>
          </a:prstGeom>
        </p:spPr>
      </p:pic>
      <p:sp>
        <p:nvSpPr>
          <p:cNvPr id="150" name="TextBox 149"/>
          <p:cNvSpPr txBox="1"/>
          <p:nvPr/>
        </p:nvSpPr>
        <p:spPr>
          <a:xfrm>
            <a:off x="11795760" y="2971800"/>
            <a:ext cx="5577840" cy="1463040"/>
          </a:xfrm>
          <a:prstGeom prst="rect">
            <a:avLst/>
          </a:prstGeom>
          <a:noFill/>
        </p:spPr>
        <p:txBody>
          <a:bodyPr wrap="square" anchor="t" lIns="0" rIns="0" tIns="0" bIns="0">
            <a:spAutoFit/>
          </a:bodyPr>
          <a:lstStyle/>
          <a:p>
            <a:pPr algn="l">
              <a:spcAft>
                <a:spcPts val="200"/>
              </a:spcAft>
            </a:pPr>
            <a:r>
              <a:rPr sz="2400" b="1">
                <a:solidFill>
                  <a:srgbClr val="1D1D1F"/>
                </a:solidFill>
                <a:latin typeface="Calibri"/>
              </a:rPr>
              <a:t>Strategy A fails.</a:t>
            </a:r>
          </a:p>
          <a:p>
            <a:pPr algn="l">
              <a:spcAft>
                <a:spcPts val="200"/>
              </a:spcAft>
            </a:pPr>
            <a:r>
              <a:rPr sz="2000" b="0">
                <a:solidFill>
                  <a:srgbClr val="4A4A50"/>
                </a:solidFill>
                <a:latin typeface="Calibri"/>
              </a:rPr>
              <a:t>It lost in both windows, even with perfect fills.</a:t>
            </a:r>
          </a:p>
        </p:txBody>
      </p:sp>
      <p:sp>
        <p:nvSpPr>
          <p:cNvPr id="151" name="Oval 150"/>
          <p:cNvSpPr/>
          <p:nvPr/>
        </p:nvSpPr>
        <p:spPr>
          <a:xfrm>
            <a:off x="10881360" y="4617720"/>
            <a:ext cx="685800" cy="68580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2" name="Picture 151" descr="check_w.png"/>
          <p:cNvPicPr>
            <a:picLocks noChangeAspect="1"/>
          </p:cNvPicPr>
          <p:nvPr/>
        </p:nvPicPr>
        <p:blipFill>
          <a:blip r:embed="rId6"/>
          <a:stretch>
            <a:fillRect/>
          </a:stretch>
        </p:blipFill>
        <p:spPr>
          <a:xfrm>
            <a:off x="11032236" y="4768596"/>
            <a:ext cx="384048" cy="384048"/>
          </a:xfrm>
          <a:prstGeom prst="rect">
            <a:avLst/>
          </a:prstGeom>
        </p:spPr>
      </p:pic>
      <p:sp>
        <p:nvSpPr>
          <p:cNvPr id="153" name="TextBox 152"/>
          <p:cNvSpPr txBox="1"/>
          <p:nvPr/>
        </p:nvSpPr>
        <p:spPr>
          <a:xfrm>
            <a:off x="11795760" y="4572000"/>
            <a:ext cx="5577840" cy="1463040"/>
          </a:xfrm>
          <a:prstGeom prst="rect">
            <a:avLst/>
          </a:prstGeom>
          <a:noFill/>
        </p:spPr>
        <p:txBody>
          <a:bodyPr wrap="square" anchor="t" lIns="0" rIns="0" tIns="0" bIns="0">
            <a:spAutoFit/>
          </a:bodyPr>
          <a:lstStyle/>
          <a:p>
            <a:pPr algn="l">
              <a:spcAft>
                <a:spcPts val="200"/>
              </a:spcAft>
            </a:pPr>
            <a:r>
              <a:rPr sz="2400" b="1">
                <a:solidFill>
                  <a:srgbClr val="1D1D1F"/>
                </a:solidFill>
                <a:latin typeface="Calibri"/>
              </a:rPr>
              <a:t>Strategy B holds up.</a:t>
            </a:r>
          </a:p>
          <a:p>
            <a:pPr algn="l">
              <a:spcAft>
                <a:spcPts val="200"/>
              </a:spcAft>
            </a:pPr>
            <a:r>
              <a:rPr sz="2000" b="0">
                <a:solidFill>
                  <a:srgbClr val="4A4A50"/>
                </a:solidFill>
                <a:latin typeface="Calibri"/>
              </a:rPr>
              <a:t>It made money in all 3 sealed tests: ₹12,990, ₹35,873 and ₹6,962.</a:t>
            </a:r>
          </a:p>
        </p:txBody>
      </p:sp>
      <p:sp>
        <p:nvSpPr>
          <p:cNvPr id="154" name="Oval 153"/>
          <p:cNvSpPr/>
          <p:nvPr/>
        </p:nvSpPr>
        <p:spPr>
          <a:xfrm>
            <a:off x="10881360" y="6217920"/>
            <a:ext cx="685800" cy="685800"/>
          </a:xfrm>
          <a:prstGeom prst="ellipse">
            <a:avLst/>
          </a:prstGeom>
          <a:solidFill>
            <a:srgbClr val="835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5" name="Picture 154" descr="shield_w.png"/>
          <p:cNvPicPr>
            <a:picLocks noChangeAspect="1"/>
          </p:cNvPicPr>
          <p:nvPr/>
        </p:nvPicPr>
        <p:blipFill>
          <a:blip r:embed="rId7"/>
          <a:stretch>
            <a:fillRect/>
          </a:stretch>
        </p:blipFill>
        <p:spPr>
          <a:xfrm>
            <a:off x="11032236" y="6368796"/>
            <a:ext cx="384048" cy="384048"/>
          </a:xfrm>
          <a:prstGeom prst="rect">
            <a:avLst/>
          </a:prstGeom>
        </p:spPr>
      </p:pic>
      <p:sp>
        <p:nvSpPr>
          <p:cNvPr id="156" name="TextBox 155"/>
          <p:cNvSpPr txBox="1"/>
          <p:nvPr/>
        </p:nvSpPr>
        <p:spPr>
          <a:xfrm>
            <a:off x="11795760" y="6172200"/>
            <a:ext cx="5577840" cy="1463040"/>
          </a:xfrm>
          <a:prstGeom prst="rect">
            <a:avLst/>
          </a:prstGeom>
          <a:noFill/>
        </p:spPr>
        <p:txBody>
          <a:bodyPr wrap="square" anchor="t" lIns="0" rIns="0" tIns="0" bIns="0">
            <a:spAutoFit/>
          </a:bodyPr>
          <a:lstStyle/>
          <a:p>
            <a:pPr algn="l">
              <a:spcAft>
                <a:spcPts val="200"/>
              </a:spcAft>
            </a:pPr>
            <a:r>
              <a:rPr sz="2400" b="1">
                <a:solidFill>
                  <a:srgbClr val="1D1D1F"/>
                </a:solidFill>
                <a:latin typeface="Calibri"/>
              </a:rPr>
              <a:t>We say it plainly.</a:t>
            </a:r>
          </a:p>
          <a:p>
            <a:pPr algn="l">
              <a:spcAft>
                <a:spcPts val="200"/>
              </a:spcAft>
            </a:pPr>
            <a:r>
              <a:rPr sz="2000" b="0">
                <a:solidFill>
                  <a:srgbClr val="4A4A50"/>
                </a:solidFill>
                <a:latin typeface="Calibri"/>
              </a:rPr>
              <a:t>The edge is small, and trading costs decide it.</a:t>
            </a:r>
          </a:p>
        </p:txBody>
      </p:sp>
      <p:sp>
        <p:nvSpPr>
          <p:cNvPr id="157" name="Data"/>
          <p:cNvSpPr/>
          <p:nvPr/>
        </p:nvSpPr>
        <p:spPr>
          <a:xfrm>
            <a:off x="914400" y="8229600"/>
            <a:ext cx="16459200" cy="1554480"/>
          </a:xfrm>
          <a:prstGeom prst="roundRect">
            <a:avLst>
              <a:gd name="adj" fmla="val 5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280160" y="8339327"/>
            <a:ext cx="3840480" cy="777240"/>
          </a:xfrm>
          <a:prstGeom prst="rect">
            <a:avLst/>
          </a:prstGeom>
          <a:noFill/>
        </p:spPr>
        <p:txBody>
          <a:bodyPr wrap="square" anchor="t" lIns="0" rIns="0" tIns="0" bIns="0">
            <a:spAutoFit/>
          </a:bodyPr>
          <a:lstStyle/>
          <a:p>
            <a:pPr algn="l">
              <a:spcAft>
                <a:spcPts val="0"/>
              </a:spcAft>
            </a:pPr>
            <a:r>
              <a:rPr sz="4000" b="1">
                <a:solidFill>
                  <a:srgbClr val="835A07"/>
                </a:solidFill>
                <a:latin typeface="Montserrat"/>
              </a:rPr>
              <a:t>710</a:t>
            </a:r>
          </a:p>
        </p:txBody>
      </p:sp>
      <p:sp>
        <p:nvSpPr>
          <p:cNvPr id="159" name="TextBox 158"/>
          <p:cNvSpPr txBox="1"/>
          <p:nvPr/>
        </p:nvSpPr>
        <p:spPr>
          <a:xfrm>
            <a:off x="1280160" y="9125712"/>
            <a:ext cx="3840480" cy="5029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MCX contracts, 2003–2026</a:t>
            </a:r>
          </a:p>
        </p:txBody>
      </p:sp>
      <p:sp>
        <p:nvSpPr>
          <p:cNvPr id="160" name="TextBox 159"/>
          <p:cNvSpPr txBox="1"/>
          <p:nvPr/>
        </p:nvSpPr>
        <p:spPr>
          <a:xfrm>
            <a:off x="5394960" y="8339327"/>
            <a:ext cx="3840480" cy="777240"/>
          </a:xfrm>
          <a:prstGeom prst="rect">
            <a:avLst/>
          </a:prstGeom>
          <a:noFill/>
        </p:spPr>
        <p:txBody>
          <a:bodyPr wrap="square" anchor="t" lIns="0" rIns="0" tIns="0" bIns="0">
            <a:spAutoFit/>
          </a:bodyPr>
          <a:lstStyle/>
          <a:p>
            <a:pPr algn="l">
              <a:spcAft>
                <a:spcPts val="0"/>
              </a:spcAft>
            </a:pPr>
            <a:r>
              <a:rPr sz="4000" b="1">
                <a:solidFill>
                  <a:srgbClr val="835A07"/>
                </a:solidFill>
                <a:latin typeface="Montserrat"/>
              </a:rPr>
              <a:t>55,457</a:t>
            </a:r>
          </a:p>
        </p:txBody>
      </p:sp>
      <p:sp>
        <p:nvSpPr>
          <p:cNvPr id="161" name="TextBox 160"/>
          <p:cNvSpPr txBox="1"/>
          <p:nvPr/>
        </p:nvSpPr>
        <p:spPr>
          <a:xfrm>
            <a:off x="5394960" y="9125712"/>
            <a:ext cx="3840480" cy="5029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daily rows checked</a:t>
            </a:r>
          </a:p>
        </p:txBody>
      </p:sp>
      <p:sp>
        <p:nvSpPr>
          <p:cNvPr id="162" name="TextBox 161"/>
          <p:cNvSpPr txBox="1"/>
          <p:nvPr/>
        </p:nvSpPr>
        <p:spPr>
          <a:xfrm>
            <a:off x="9509760" y="8339327"/>
            <a:ext cx="3840480" cy="777240"/>
          </a:xfrm>
          <a:prstGeom prst="rect">
            <a:avLst/>
          </a:prstGeom>
          <a:noFill/>
        </p:spPr>
        <p:txBody>
          <a:bodyPr wrap="square" anchor="t" lIns="0" rIns="0" tIns="0" bIns="0">
            <a:spAutoFit/>
          </a:bodyPr>
          <a:lstStyle/>
          <a:p>
            <a:pPr algn="l">
              <a:spcAft>
                <a:spcPts val="0"/>
              </a:spcAft>
            </a:pPr>
            <a:r>
              <a:rPr sz="4000" b="1">
                <a:solidFill>
                  <a:srgbClr val="835A07"/>
                </a:solidFill>
                <a:latin typeface="Montserrat"/>
              </a:rPr>
              <a:t>0</a:t>
            </a:r>
          </a:p>
        </p:txBody>
      </p:sp>
      <p:sp>
        <p:nvSpPr>
          <p:cNvPr id="163" name="TextBox 162"/>
          <p:cNvSpPr txBox="1"/>
          <p:nvPr/>
        </p:nvSpPr>
        <p:spPr>
          <a:xfrm>
            <a:off x="9509760" y="9125712"/>
            <a:ext cx="3840480" cy="5029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unexplained data errors</a:t>
            </a:r>
          </a:p>
        </p:txBody>
      </p:sp>
      <p:sp>
        <p:nvSpPr>
          <p:cNvPr id="164" name="TextBox 163"/>
          <p:cNvSpPr txBox="1"/>
          <p:nvPr/>
        </p:nvSpPr>
        <p:spPr>
          <a:xfrm>
            <a:off x="13624560" y="8339327"/>
            <a:ext cx="3840480" cy="777240"/>
          </a:xfrm>
          <a:prstGeom prst="rect">
            <a:avLst/>
          </a:prstGeom>
          <a:noFill/>
        </p:spPr>
        <p:txBody>
          <a:bodyPr wrap="square" anchor="t" lIns="0" rIns="0" tIns="0" bIns="0">
            <a:spAutoFit/>
          </a:bodyPr>
          <a:lstStyle/>
          <a:p>
            <a:pPr algn="l">
              <a:spcAft>
                <a:spcPts val="0"/>
              </a:spcAft>
            </a:pPr>
            <a:r>
              <a:rPr sz="4000" b="1">
                <a:solidFill>
                  <a:srgbClr val="835A07"/>
                </a:solidFill>
                <a:latin typeface="Montserrat"/>
              </a:rPr>
              <a:t>3</a:t>
            </a:r>
          </a:p>
        </p:txBody>
      </p:sp>
      <p:sp>
        <p:nvSpPr>
          <p:cNvPr id="165" name="TextBox 164"/>
          <p:cNvSpPr txBox="1"/>
          <p:nvPr/>
        </p:nvSpPr>
        <p:spPr>
          <a:xfrm>
            <a:off x="13624560" y="9125712"/>
            <a:ext cx="3840480" cy="502920"/>
          </a:xfrm>
          <a:prstGeom prst="rect">
            <a:avLst/>
          </a:prstGeom>
          <a:noFill/>
        </p:spPr>
        <p:txBody>
          <a:bodyPr wrap="square" anchor="t" lIns="0" rIns="0" tIns="0" bIns="0">
            <a:spAutoFit/>
          </a:bodyPr>
          <a:lstStyle/>
          <a:p>
            <a:pPr algn="l">
              <a:spcAft>
                <a:spcPts val="0"/>
              </a:spcAft>
            </a:pPr>
            <a:r>
              <a:rPr sz="1800" b="0">
                <a:solidFill>
                  <a:srgbClr val="4A4A50"/>
                </a:solidFill>
                <a:latin typeface="Calibri"/>
              </a:rPr>
              <a:t>sealed tests, each run once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57" name="Google Shape;157;p20" title="download (2).jpg"/>
          <p:cNvPicPr preferRelativeResize="0"/>
          <p:nvPr/>
        </p:nvPicPr>
        <p:blipFill rotWithShape="1">
          <a:blip r:embed="rId3">
            <a:alphaModFix/>
          </a:blip>
          <a:srcRect b="0" l="38928" r="16455" t="0"/>
          <a:stretch/>
        </p:blipFill>
        <p:spPr>
          <a:xfrm rot="-5400000">
            <a:off x="7123100" y="-7111200"/>
            <a:ext cx="4088375" cy="18326624"/>
          </a:xfrm>
          <a:prstGeom prst="rect">
            <a:avLst/>
          </a:prstGeom>
          <a:noFill/>
          <a:ln>
            <a:noFill/>
          </a:ln>
        </p:spPr>
      </p:pic>
      <p:pic>
        <p:nvPicPr>
          <p:cNvPr id="158" name="Google Shape;158;p20" title="Group 48097831.png"/>
          <p:cNvPicPr preferRelativeResize="0"/>
          <p:nvPr/>
        </p:nvPicPr>
        <p:blipFill>
          <a:blip r:embed="rId4">
            <a:alphaModFix/>
          </a:blip>
          <a:stretch>
            <a:fillRect/>
          </a:stretch>
        </p:blipFill>
        <p:spPr>
          <a:xfrm>
            <a:off x="318675" y="296224"/>
            <a:ext cx="7240346" cy="791925"/>
          </a:xfrm>
          <a:prstGeom prst="rect">
            <a:avLst/>
          </a:prstGeom>
          <a:noFill/>
          <a:ln>
            <a:noFill/>
          </a:ln>
        </p:spPr>
      </p:pic>
      <p:pic>
        <p:nvPicPr>
          <p:cNvPr id="159" name="Google Shape;159;p20" title="Logo.png"/>
          <p:cNvPicPr preferRelativeResize="0"/>
          <p:nvPr/>
        </p:nvPicPr>
        <p:blipFill>
          <a:blip r:embed="rId5">
            <a:alphaModFix/>
          </a:blip>
          <a:stretch>
            <a:fillRect/>
          </a:stretch>
        </p:blipFill>
        <p:spPr>
          <a:xfrm>
            <a:off x="12520575" y="296231"/>
            <a:ext cx="5599601" cy="791925"/>
          </a:xfrm>
          <a:prstGeom prst="rect">
            <a:avLst/>
          </a:prstGeom>
          <a:noFill/>
          <a:ln>
            <a:noFill/>
          </a:ln>
        </p:spPr>
      </p:pic>
      <p:sp>
        <p:nvSpPr>
          <p:cNvPr id="160" name="Thank you"/>
          <p:cNvSpPr txBox="1"/>
          <p:nvPr/>
        </p:nvSpPr>
        <p:spPr>
          <a:xfrm>
            <a:off x="914400" y="4343400"/>
            <a:ext cx="16459200" cy="2194560"/>
          </a:xfrm>
          <a:prstGeom prst="rect">
            <a:avLst/>
          </a:prstGeom>
          <a:noFill/>
        </p:spPr>
        <p:txBody>
          <a:bodyPr wrap="square" anchor="ctr" lIns="0" rIns="0" tIns="0" bIns="0">
            <a:spAutoFit/>
          </a:bodyPr>
          <a:lstStyle/>
          <a:p>
            <a:pPr algn="ctr">
              <a:spcAft>
                <a:spcPts val="0"/>
              </a:spcAft>
            </a:pPr>
            <a:r>
              <a:rPr sz="15000" b="1">
                <a:solidFill>
                  <a:srgbClr val="1D1D1F"/>
                </a:solidFill>
                <a:latin typeface="Caveat"/>
              </a:rPr>
              <a:t>Thank you!</a:t>
            </a:r>
          </a:p>
        </p:txBody>
      </p:sp>
      <p:sp>
        <p:nvSpPr>
          <p:cNvPr id="161" name="TextBox 160"/>
          <p:cNvSpPr txBox="1"/>
          <p:nvPr/>
        </p:nvSpPr>
        <p:spPr>
          <a:xfrm>
            <a:off x="914400" y="6812280"/>
            <a:ext cx="16459200" cy="548640"/>
          </a:xfrm>
          <a:prstGeom prst="rect">
            <a:avLst/>
          </a:prstGeom>
          <a:noFill/>
        </p:spPr>
        <p:txBody>
          <a:bodyPr wrap="square" anchor="t" lIns="0" rIns="0" tIns="0" bIns="0">
            <a:spAutoFit/>
          </a:bodyPr>
          <a:lstStyle/>
          <a:p>
            <a:pPr algn="ctr">
              <a:spcAft>
                <a:spcPts val="0"/>
              </a:spcAft>
            </a:pPr>
            <a:r>
              <a:rPr sz="2600" b="1">
                <a:solidFill>
                  <a:srgbClr val="835A07"/>
                </a:solidFill>
                <a:latin typeface="Montserrat"/>
              </a:rPr>
              <a:t>SYNTAX TERROR (TAN)</a:t>
            </a:r>
            <a:r>
              <a:rPr sz="2600" b="0">
                <a:solidFill>
                  <a:srgbClr val="4A4A50"/>
                </a:solidFill>
                <a:latin typeface="Montserrat"/>
              </a:rPr>
              <a:t>  ·  Parity, MCX gold futures intelligence</a:t>
            </a:r>
          </a:p>
        </p:txBody>
      </p:sp>
      <p:sp>
        <p:nvSpPr>
          <p:cNvPr id="162" name="TextBox 161"/>
          <p:cNvSpPr txBox="1"/>
          <p:nvPr/>
        </p:nvSpPr>
        <p:spPr>
          <a:xfrm>
            <a:off x="914400" y="7498079"/>
            <a:ext cx="16459200" cy="457200"/>
          </a:xfrm>
          <a:prstGeom prst="rect">
            <a:avLst/>
          </a:prstGeom>
          <a:noFill/>
        </p:spPr>
        <p:txBody>
          <a:bodyPr wrap="square" anchor="t" lIns="0" rIns="0" tIns="0" bIns="0">
            <a:spAutoFit/>
          </a:bodyPr>
          <a:lstStyle/>
          <a:p>
            <a:pPr algn="ctr">
              <a:spcAft>
                <a:spcPts val="0"/>
              </a:spcAft>
            </a:pPr>
            <a:r>
              <a:rPr sz="2200" b="0">
                <a:solidFill>
                  <a:srgbClr val="4A4A50"/>
                </a:solidFill>
                <a:latin typeface="Calibri"/>
              </a:rPr>
              <a:t>Nikhil Kumar  ·  Sai Ganesh  ·  Ishaan Chhabra</a:t>
            </a:r>
          </a:p>
        </p:txBody>
      </p:sp>
      <p:pic>
        <p:nvPicPr>
          <p:cNvPr id="163" name="Repository QR" descr="qr.png"/>
          <p:cNvPicPr>
            <a:picLocks noChangeAspect="1"/>
          </p:cNvPicPr>
          <p:nvPr/>
        </p:nvPicPr>
        <p:blipFill>
          <a:blip r:embed="rId6"/>
          <a:stretch>
            <a:fillRect/>
          </a:stretch>
        </p:blipFill>
        <p:spPr>
          <a:xfrm>
            <a:off x="15864840" y="7818120"/>
            <a:ext cx="1600200" cy="1600200"/>
          </a:xfrm>
          <a:prstGeom prst="rect">
            <a:avLst/>
          </a:prstGeom>
        </p:spPr>
      </p:pic>
      <p:sp>
        <p:nvSpPr>
          <p:cNvPr id="164" name="TextBox 163"/>
          <p:cNvSpPr txBox="1"/>
          <p:nvPr/>
        </p:nvSpPr>
        <p:spPr>
          <a:xfrm>
            <a:off x="14264640" y="9509760"/>
            <a:ext cx="3200400" cy="365760"/>
          </a:xfrm>
          <a:prstGeom prst="rect">
            <a:avLst/>
          </a:prstGeom>
          <a:noFill/>
        </p:spPr>
        <p:txBody>
          <a:bodyPr wrap="square" anchor="t" lIns="0" rIns="0" tIns="0" bIns="0">
            <a:spAutoFit/>
          </a:bodyPr>
          <a:lstStyle/>
          <a:p>
            <a:pPr algn="r">
              <a:spcAft>
                <a:spcPts val="0"/>
              </a:spcAft>
            </a:pPr>
            <a:r>
              <a:rPr sz="1600" b="0">
                <a:solidFill>
                  <a:srgbClr val="4A4A50"/>
                </a:solidFill>
                <a:latin typeface="Calibri"/>
              </a:rPr>
              <a:t>Code on GitHub</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